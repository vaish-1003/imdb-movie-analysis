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vnd.openxmlformats-officedocument.vmlDrawing" Extension="vml"/>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spreadsheetml.sheet" PartName="/ppt/embeddings/Microsoft_Excel_Sheet3.xlsx"/>
  <Override ContentType="application/vnd.openxmlformats-officedocument.spreadsheetml.sheet" PartName="/ppt/embeddings/Microsoft_Excel_Sheet4.xlsx"/>
  <Override ContentType="application/vnd.openxmlformats-officedocument.spreadsheetml.sheet" PartName="/ppt/embeddings/Microsoft_Excel_Sheet2.xlsx"/>
  <Override ContentType="application/vnd.openxmlformats-officedocument.spreadsheetml.sheet" PartName="/ppt/embeddings/Microsoft_Excel_Sheet5.xlsx"/>
  <Override ContentType="application/vnd.openxmlformats-officedocument.spreadsheetml.sheet" PartName="/ppt/embeddings/Microsoft_Excel_Sheet1.xlsx"/>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Manrope"/>
      <p:regular r:id="rId25"/>
      <p:bold r:id="rId26"/>
    </p:embeddedFont>
    <p:embeddedFont>
      <p:font typeface="Lustria"/>
      <p:regular r:id="rId27"/>
    </p:embeddedFont>
    <p:embeddedFont>
      <p:font typeface="Cambria Math"/>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sinf7X53Vm6BSKxZ0XtdmvBBd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Manrope-bold.fntdata"/><Relationship Id="rId25" Type="http://schemas.openxmlformats.org/officeDocument/2006/relationships/font" Target="fonts/Manrope-regular.fntdata"/><Relationship Id="rId28" Type="http://schemas.openxmlformats.org/officeDocument/2006/relationships/font" Target="fonts/CambriaMath-regular.fntdata"/><Relationship Id="rId27" Type="http://schemas.openxmlformats.org/officeDocument/2006/relationships/font" Target="fonts/Lustri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3"/>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0" name="Google Shape;20;p23"/>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3"/>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3"/>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3"/>
          <p:cNvGrpSpPr/>
          <p:nvPr/>
        </p:nvGrpSpPr>
        <p:grpSpPr>
          <a:xfrm>
            <a:off x="5250180" y="1267730"/>
            <a:ext cx="1691640" cy="615934"/>
            <a:chOff x="5250180" y="1267730"/>
            <a:chExt cx="1691640" cy="615934"/>
          </a:xfrm>
        </p:grpSpPr>
        <p:cxnSp>
          <p:nvCxnSpPr>
            <p:cNvPr id="24" name="Google Shape;24;p23"/>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5" name="Google Shape;25;p23"/>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26" name="Google Shape;26;p23"/>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27" name="Google Shape;27;p23"/>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Avenir"/>
              <a:buNone/>
              <a:defRPr b="0" sz="6800" cap="none">
                <a:solidFill>
                  <a:srgbClr val="262626"/>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3"/>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9" name="Google Shape;29;p23"/>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Avenir"/>
                <a:ea typeface="Avenir"/>
                <a:cs typeface="Avenir"/>
                <a:sym typeface="Avenir"/>
              </a:defRPr>
            </a:lvl1pPr>
            <a:lvl2pPr indent="0" lvl="1" marL="0" algn="r">
              <a:spcBef>
                <a:spcPts val="0"/>
              </a:spcBef>
              <a:buNone/>
              <a:defRPr b="0" i="0" sz="800" u="none" cap="none" strike="noStrike">
                <a:solidFill>
                  <a:srgbClr val="262626"/>
                </a:solidFill>
                <a:latin typeface="Avenir"/>
                <a:ea typeface="Avenir"/>
                <a:cs typeface="Avenir"/>
                <a:sym typeface="Avenir"/>
              </a:defRPr>
            </a:lvl2pPr>
            <a:lvl3pPr indent="0" lvl="2" marL="0" algn="r">
              <a:spcBef>
                <a:spcPts val="0"/>
              </a:spcBef>
              <a:buNone/>
              <a:defRPr b="0" i="0" sz="800" u="none" cap="none" strike="noStrike">
                <a:solidFill>
                  <a:srgbClr val="262626"/>
                </a:solidFill>
                <a:latin typeface="Avenir"/>
                <a:ea typeface="Avenir"/>
                <a:cs typeface="Avenir"/>
                <a:sym typeface="Avenir"/>
              </a:defRPr>
            </a:lvl3pPr>
            <a:lvl4pPr indent="0" lvl="3" marL="0" algn="r">
              <a:spcBef>
                <a:spcPts val="0"/>
              </a:spcBef>
              <a:buNone/>
              <a:defRPr b="0" i="0" sz="800" u="none" cap="none" strike="noStrike">
                <a:solidFill>
                  <a:srgbClr val="262626"/>
                </a:solidFill>
                <a:latin typeface="Avenir"/>
                <a:ea typeface="Avenir"/>
                <a:cs typeface="Avenir"/>
                <a:sym typeface="Avenir"/>
              </a:defRPr>
            </a:lvl4pPr>
            <a:lvl5pPr indent="0" lvl="4" marL="0" algn="r">
              <a:spcBef>
                <a:spcPts val="0"/>
              </a:spcBef>
              <a:buNone/>
              <a:defRPr b="0" i="0" sz="800" u="none" cap="none" strike="noStrike">
                <a:solidFill>
                  <a:srgbClr val="262626"/>
                </a:solidFill>
                <a:latin typeface="Avenir"/>
                <a:ea typeface="Avenir"/>
                <a:cs typeface="Avenir"/>
                <a:sym typeface="Avenir"/>
              </a:defRPr>
            </a:lvl5pPr>
            <a:lvl6pPr indent="0" lvl="5" marL="0" algn="r">
              <a:spcBef>
                <a:spcPts val="0"/>
              </a:spcBef>
              <a:buNone/>
              <a:defRPr b="0" i="0" sz="800" u="none" cap="none" strike="noStrike">
                <a:solidFill>
                  <a:srgbClr val="262626"/>
                </a:solidFill>
                <a:latin typeface="Avenir"/>
                <a:ea typeface="Avenir"/>
                <a:cs typeface="Avenir"/>
                <a:sym typeface="Avenir"/>
              </a:defRPr>
            </a:lvl6pPr>
            <a:lvl7pPr indent="0" lvl="6" marL="0" algn="r">
              <a:spcBef>
                <a:spcPts val="0"/>
              </a:spcBef>
              <a:buNone/>
              <a:defRPr b="0" i="0" sz="800" u="none" cap="none" strike="noStrike">
                <a:solidFill>
                  <a:srgbClr val="262626"/>
                </a:solidFill>
                <a:latin typeface="Avenir"/>
                <a:ea typeface="Avenir"/>
                <a:cs typeface="Avenir"/>
                <a:sym typeface="Avenir"/>
              </a:defRPr>
            </a:lvl7pPr>
            <a:lvl8pPr indent="0" lvl="7" marL="0" algn="r">
              <a:spcBef>
                <a:spcPts val="0"/>
              </a:spcBef>
              <a:buNone/>
              <a:defRPr b="0" i="0" sz="800" u="none" cap="none" strike="noStrike">
                <a:solidFill>
                  <a:srgbClr val="262626"/>
                </a:solidFill>
                <a:latin typeface="Avenir"/>
                <a:ea typeface="Avenir"/>
                <a:cs typeface="Avenir"/>
                <a:sym typeface="Avenir"/>
              </a:defRPr>
            </a:lvl8pPr>
            <a:lvl9pPr indent="0" lvl="8" marL="0" algn="r">
              <a:spcBef>
                <a:spcPts val="0"/>
              </a:spcBef>
              <a:buNone/>
              <a:defRPr b="0" i="0" sz="800" u="none" cap="none" strike="noStrike">
                <a:solidFill>
                  <a:srgbClr val="262626"/>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2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4"/>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44" name="Google Shape;44;p2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25"/>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5"/>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1" name="Shape 51"/>
        <p:cNvGrpSpPr/>
        <p:nvPr/>
      </p:nvGrpSpPr>
      <p:grpSpPr>
        <a:xfrm>
          <a:off x="0" y="0"/>
          <a:ext cx="0" cy="0"/>
          <a:chOff x="0" y="0"/>
          <a:chExt cx="0" cy="0"/>
        </a:xfrm>
      </p:grpSpPr>
      <p:sp>
        <p:nvSpPr>
          <p:cNvPr id="52" name="Google Shape;52;p22"/>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53" name="Google Shape;53;p22"/>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2"/>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2"/>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22"/>
          <p:cNvGrpSpPr/>
          <p:nvPr/>
        </p:nvGrpSpPr>
        <p:grpSpPr>
          <a:xfrm>
            <a:off x="5250180" y="1267730"/>
            <a:ext cx="1691640" cy="615934"/>
            <a:chOff x="5250180" y="1267730"/>
            <a:chExt cx="1691640" cy="615934"/>
          </a:xfrm>
        </p:grpSpPr>
        <p:cxnSp>
          <p:nvCxnSpPr>
            <p:cNvPr id="57" name="Google Shape;57;p22"/>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8" name="Google Shape;58;p22"/>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9" name="Google Shape;59;p22"/>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60" name="Google Shape;60;p22"/>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Avenir"/>
              <a:buNone/>
              <a:defRPr b="0" sz="6800" cap="none">
                <a:solidFill>
                  <a:srgbClr val="262626"/>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62" name="Google Shape;62;p22"/>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2"/>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Avenir"/>
                <a:ea typeface="Avenir"/>
                <a:cs typeface="Avenir"/>
                <a:sym typeface="Avenir"/>
              </a:defRPr>
            </a:lvl1pPr>
            <a:lvl2pPr indent="0" lvl="1" marL="0" algn="r">
              <a:spcBef>
                <a:spcPts val="0"/>
              </a:spcBef>
              <a:buNone/>
              <a:defRPr b="0" i="0" sz="800" u="none" cap="none" strike="noStrike">
                <a:solidFill>
                  <a:srgbClr val="262626"/>
                </a:solidFill>
                <a:latin typeface="Avenir"/>
                <a:ea typeface="Avenir"/>
                <a:cs typeface="Avenir"/>
                <a:sym typeface="Avenir"/>
              </a:defRPr>
            </a:lvl2pPr>
            <a:lvl3pPr indent="0" lvl="2" marL="0" algn="r">
              <a:spcBef>
                <a:spcPts val="0"/>
              </a:spcBef>
              <a:buNone/>
              <a:defRPr b="0" i="0" sz="800" u="none" cap="none" strike="noStrike">
                <a:solidFill>
                  <a:srgbClr val="262626"/>
                </a:solidFill>
                <a:latin typeface="Avenir"/>
                <a:ea typeface="Avenir"/>
                <a:cs typeface="Avenir"/>
                <a:sym typeface="Avenir"/>
              </a:defRPr>
            </a:lvl3pPr>
            <a:lvl4pPr indent="0" lvl="3" marL="0" algn="r">
              <a:spcBef>
                <a:spcPts val="0"/>
              </a:spcBef>
              <a:buNone/>
              <a:defRPr b="0" i="0" sz="800" u="none" cap="none" strike="noStrike">
                <a:solidFill>
                  <a:srgbClr val="262626"/>
                </a:solidFill>
                <a:latin typeface="Avenir"/>
                <a:ea typeface="Avenir"/>
                <a:cs typeface="Avenir"/>
                <a:sym typeface="Avenir"/>
              </a:defRPr>
            </a:lvl4pPr>
            <a:lvl5pPr indent="0" lvl="4" marL="0" algn="r">
              <a:spcBef>
                <a:spcPts val="0"/>
              </a:spcBef>
              <a:buNone/>
              <a:defRPr b="0" i="0" sz="800" u="none" cap="none" strike="noStrike">
                <a:solidFill>
                  <a:srgbClr val="262626"/>
                </a:solidFill>
                <a:latin typeface="Avenir"/>
                <a:ea typeface="Avenir"/>
                <a:cs typeface="Avenir"/>
                <a:sym typeface="Avenir"/>
              </a:defRPr>
            </a:lvl5pPr>
            <a:lvl6pPr indent="0" lvl="5" marL="0" algn="r">
              <a:spcBef>
                <a:spcPts val="0"/>
              </a:spcBef>
              <a:buNone/>
              <a:defRPr b="0" i="0" sz="800" u="none" cap="none" strike="noStrike">
                <a:solidFill>
                  <a:srgbClr val="262626"/>
                </a:solidFill>
                <a:latin typeface="Avenir"/>
                <a:ea typeface="Avenir"/>
                <a:cs typeface="Avenir"/>
                <a:sym typeface="Avenir"/>
              </a:defRPr>
            </a:lvl6pPr>
            <a:lvl7pPr indent="0" lvl="6" marL="0" algn="r">
              <a:spcBef>
                <a:spcPts val="0"/>
              </a:spcBef>
              <a:buNone/>
              <a:defRPr b="0" i="0" sz="800" u="none" cap="none" strike="noStrike">
                <a:solidFill>
                  <a:srgbClr val="262626"/>
                </a:solidFill>
                <a:latin typeface="Avenir"/>
                <a:ea typeface="Avenir"/>
                <a:cs typeface="Avenir"/>
                <a:sym typeface="Avenir"/>
              </a:defRPr>
            </a:lvl7pPr>
            <a:lvl8pPr indent="0" lvl="7" marL="0" algn="r">
              <a:spcBef>
                <a:spcPts val="0"/>
              </a:spcBef>
              <a:buNone/>
              <a:defRPr b="0" i="0" sz="800" u="none" cap="none" strike="noStrike">
                <a:solidFill>
                  <a:srgbClr val="262626"/>
                </a:solidFill>
                <a:latin typeface="Avenir"/>
                <a:ea typeface="Avenir"/>
                <a:cs typeface="Avenir"/>
                <a:sym typeface="Avenir"/>
              </a:defRPr>
            </a:lvl8pPr>
            <a:lvl9pPr indent="0" lvl="8" marL="0" algn="r">
              <a:spcBef>
                <a:spcPts val="0"/>
              </a:spcBef>
              <a:buNone/>
              <a:defRPr b="0" i="0" sz="800" u="none" cap="none" strike="noStrike">
                <a:solidFill>
                  <a:srgbClr val="262626"/>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5" name="Shape 65"/>
        <p:cNvGrpSpPr/>
        <p:nvPr/>
      </p:nvGrpSpPr>
      <p:grpSpPr>
        <a:xfrm>
          <a:off x="0" y="0"/>
          <a:ext cx="0" cy="0"/>
          <a:chOff x="0" y="0"/>
          <a:chExt cx="0" cy="0"/>
        </a:xfrm>
      </p:grpSpPr>
      <p:sp>
        <p:nvSpPr>
          <p:cNvPr id="66" name="Google Shape;66;p26"/>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67" name="Google Shape;67;p26"/>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6"/>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6"/>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6"/>
          <p:cNvSpPr txBox="1"/>
          <p:nvPr>
            <p:ph type="title"/>
          </p:nvPr>
        </p:nvSpPr>
        <p:spPr>
          <a:xfrm>
            <a:off x="1629156" y="2275165"/>
            <a:ext cx="8933688" cy="2406895"/>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Avenir"/>
              <a:buNone/>
              <a:defRPr sz="6800" cap="none">
                <a:solidFill>
                  <a:srgbClr val="262626"/>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1" name="Google Shape;71;p26"/>
          <p:cNvGrpSpPr/>
          <p:nvPr/>
        </p:nvGrpSpPr>
        <p:grpSpPr>
          <a:xfrm>
            <a:off x="5250180" y="1267730"/>
            <a:ext cx="1691640" cy="615934"/>
            <a:chOff x="5250180" y="1267730"/>
            <a:chExt cx="1691640" cy="615934"/>
          </a:xfrm>
        </p:grpSpPr>
        <p:cxnSp>
          <p:nvCxnSpPr>
            <p:cNvPr id="72" name="Google Shape;72;p26"/>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73" name="Google Shape;73;p26"/>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74" name="Google Shape;74;p26"/>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75" name="Google Shape;75;p26"/>
          <p:cNvSpPr txBox="1"/>
          <p:nvPr>
            <p:ph idx="1" type="body"/>
          </p:nvPr>
        </p:nvSpPr>
        <p:spPr>
          <a:xfrm>
            <a:off x="1629156" y="4682062"/>
            <a:ext cx="8939784"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10000"/>
              </a:lnSpc>
              <a:spcBef>
                <a:spcPts val="900"/>
              </a:spcBef>
              <a:spcAft>
                <a:spcPts val="0"/>
              </a:spcAft>
              <a:buSzPts val="1800"/>
              <a:buNone/>
              <a:defRPr sz="1800">
                <a:solidFill>
                  <a:srgbClr val="0C0C0C"/>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76" name="Google Shape;76;p26"/>
          <p:cNvSpPr txBox="1"/>
          <p:nvPr>
            <p:ph idx="10" type="dt"/>
          </p:nvPr>
        </p:nvSpPr>
        <p:spPr>
          <a:xfrm>
            <a:off x="5318760" y="1344502"/>
            <a:ext cx="1554480" cy="498781"/>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1" type="ftr"/>
          </p:nvPr>
        </p:nvSpPr>
        <p:spPr>
          <a:xfrm>
            <a:off x="1629157" y="5177408"/>
            <a:ext cx="566013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2" type="sldNum"/>
          </p:nvPr>
        </p:nvSpPr>
        <p:spPr>
          <a:xfrm>
            <a:off x="8604504" y="5177408"/>
            <a:ext cx="1958339"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800">
                <a:solidFill>
                  <a:srgbClr val="262626"/>
                </a:solidFill>
                <a:latin typeface="Avenir"/>
                <a:ea typeface="Avenir"/>
                <a:cs typeface="Avenir"/>
                <a:sym typeface="Avenir"/>
              </a:defRPr>
            </a:lvl1pPr>
            <a:lvl2pPr indent="0" lvl="1" marL="0" algn="r">
              <a:spcBef>
                <a:spcPts val="0"/>
              </a:spcBef>
              <a:buNone/>
              <a:defRPr sz="800">
                <a:solidFill>
                  <a:srgbClr val="262626"/>
                </a:solidFill>
                <a:latin typeface="Avenir"/>
                <a:ea typeface="Avenir"/>
                <a:cs typeface="Avenir"/>
                <a:sym typeface="Avenir"/>
              </a:defRPr>
            </a:lvl2pPr>
            <a:lvl3pPr indent="0" lvl="2" marL="0" algn="r">
              <a:spcBef>
                <a:spcPts val="0"/>
              </a:spcBef>
              <a:buNone/>
              <a:defRPr sz="800">
                <a:solidFill>
                  <a:srgbClr val="262626"/>
                </a:solidFill>
                <a:latin typeface="Avenir"/>
                <a:ea typeface="Avenir"/>
                <a:cs typeface="Avenir"/>
                <a:sym typeface="Avenir"/>
              </a:defRPr>
            </a:lvl3pPr>
            <a:lvl4pPr indent="0" lvl="3" marL="0" algn="r">
              <a:spcBef>
                <a:spcPts val="0"/>
              </a:spcBef>
              <a:buNone/>
              <a:defRPr sz="800">
                <a:solidFill>
                  <a:srgbClr val="262626"/>
                </a:solidFill>
                <a:latin typeface="Avenir"/>
                <a:ea typeface="Avenir"/>
                <a:cs typeface="Avenir"/>
                <a:sym typeface="Avenir"/>
              </a:defRPr>
            </a:lvl4pPr>
            <a:lvl5pPr indent="0" lvl="4" marL="0" algn="r">
              <a:spcBef>
                <a:spcPts val="0"/>
              </a:spcBef>
              <a:buNone/>
              <a:defRPr sz="800">
                <a:solidFill>
                  <a:srgbClr val="262626"/>
                </a:solidFill>
                <a:latin typeface="Avenir"/>
                <a:ea typeface="Avenir"/>
                <a:cs typeface="Avenir"/>
                <a:sym typeface="Avenir"/>
              </a:defRPr>
            </a:lvl5pPr>
            <a:lvl6pPr indent="0" lvl="5" marL="0" algn="r">
              <a:spcBef>
                <a:spcPts val="0"/>
              </a:spcBef>
              <a:buNone/>
              <a:defRPr sz="800">
                <a:solidFill>
                  <a:srgbClr val="262626"/>
                </a:solidFill>
                <a:latin typeface="Avenir"/>
                <a:ea typeface="Avenir"/>
                <a:cs typeface="Avenir"/>
                <a:sym typeface="Avenir"/>
              </a:defRPr>
            </a:lvl6pPr>
            <a:lvl7pPr indent="0" lvl="6" marL="0" algn="r">
              <a:spcBef>
                <a:spcPts val="0"/>
              </a:spcBef>
              <a:buNone/>
              <a:defRPr sz="800">
                <a:solidFill>
                  <a:srgbClr val="262626"/>
                </a:solidFill>
                <a:latin typeface="Avenir"/>
                <a:ea typeface="Avenir"/>
                <a:cs typeface="Avenir"/>
                <a:sym typeface="Avenir"/>
              </a:defRPr>
            </a:lvl7pPr>
            <a:lvl8pPr indent="0" lvl="7" marL="0" algn="r">
              <a:spcBef>
                <a:spcPts val="0"/>
              </a:spcBef>
              <a:buNone/>
              <a:defRPr sz="800">
                <a:solidFill>
                  <a:srgbClr val="262626"/>
                </a:solidFill>
                <a:latin typeface="Avenir"/>
                <a:ea typeface="Avenir"/>
                <a:cs typeface="Avenir"/>
                <a:sym typeface="Avenir"/>
              </a:defRPr>
            </a:lvl8pPr>
            <a:lvl9pPr indent="0" lvl="8" marL="0" algn="r">
              <a:spcBef>
                <a:spcPts val="0"/>
              </a:spcBef>
              <a:buNone/>
              <a:defRPr sz="800">
                <a:solidFill>
                  <a:srgbClr val="262626"/>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2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7"/>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2" name="Google Shape;82;p27"/>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3" name="Google Shape;83;p27"/>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7"/>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2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0"/>
              </a:spcBef>
              <a:spcAft>
                <a:spcPts val="0"/>
              </a:spcAft>
              <a:buSzPts val="1900"/>
              <a:buNone/>
              <a:defRPr b="1" i="0" sz="1900">
                <a:solidFill>
                  <a:schemeClr val="dk1"/>
                </a:solidFill>
                <a:latin typeface="Avenir"/>
                <a:ea typeface="Avenir"/>
                <a:cs typeface="Avenir"/>
                <a:sym typeface="Avenir"/>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89" name="Google Shape;89;p28"/>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90" name="Google Shape;90;p28"/>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1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91" name="Google Shape;91;p28"/>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92" name="Google Shape;92;p28"/>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8"/>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8"/>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2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9"/>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9"/>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9"/>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0" name="Shape 100"/>
        <p:cNvGrpSpPr/>
        <p:nvPr/>
      </p:nvGrpSpPr>
      <p:grpSpPr>
        <a:xfrm>
          <a:off x="0" y="0"/>
          <a:ext cx="0" cy="0"/>
          <a:chOff x="0" y="0"/>
          <a:chExt cx="0" cy="0"/>
        </a:xfrm>
      </p:grpSpPr>
      <p:sp>
        <p:nvSpPr>
          <p:cNvPr id="101" name="Google Shape;101;p30"/>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0"/>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0"/>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Avenir"/>
              <a:buNone/>
              <a:defRPr b="0" sz="3200" cap="none">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0"/>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1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05" name="Google Shape;105;p30"/>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106" name="Google Shape;106;p30"/>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0"/>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0"/>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800">
                <a:solidFill>
                  <a:srgbClr val="262626"/>
                </a:solidFill>
                <a:latin typeface="Avenir"/>
                <a:ea typeface="Avenir"/>
                <a:cs typeface="Avenir"/>
                <a:sym typeface="Avenir"/>
              </a:defRPr>
            </a:lvl1pPr>
            <a:lvl2pPr indent="0" lvl="1" marL="0" algn="r">
              <a:spcBef>
                <a:spcPts val="0"/>
              </a:spcBef>
              <a:buNone/>
              <a:defRPr sz="800">
                <a:solidFill>
                  <a:srgbClr val="262626"/>
                </a:solidFill>
                <a:latin typeface="Avenir"/>
                <a:ea typeface="Avenir"/>
                <a:cs typeface="Avenir"/>
                <a:sym typeface="Avenir"/>
              </a:defRPr>
            </a:lvl2pPr>
            <a:lvl3pPr indent="0" lvl="2" marL="0" algn="r">
              <a:spcBef>
                <a:spcPts val="0"/>
              </a:spcBef>
              <a:buNone/>
              <a:defRPr sz="800">
                <a:solidFill>
                  <a:srgbClr val="262626"/>
                </a:solidFill>
                <a:latin typeface="Avenir"/>
                <a:ea typeface="Avenir"/>
                <a:cs typeface="Avenir"/>
                <a:sym typeface="Avenir"/>
              </a:defRPr>
            </a:lvl3pPr>
            <a:lvl4pPr indent="0" lvl="3" marL="0" algn="r">
              <a:spcBef>
                <a:spcPts val="0"/>
              </a:spcBef>
              <a:buNone/>
              <a:defRPr sz="800">
                <a:solidFill>
                  <a:srgbClr val="262626"/>
                </a:solidFill>
                <a:latin typeface="Avenir"/>
                <a:ea typeface="Avenir"/>
                <a:cs typeface="Avenir"/>
                <a:sym typeface="Avenir"/>
              </a:defRPr>
            </a:lvl4pPr>
            <a:lvl5pPr indent="0" lvl="4" marL="0" algn="r">
              <a:spcBef>
                <a:spcPts val="0"/>
              </a:spcBef>
              <a:buNone/>
              <a:defRPr sz="800">
                <a:solidFill>
                  <a:srgbClr val="262626"/>
                </a:solidFill>
                <a:latin typeface="Avenir"/>
                <a:ea typeface="Avenir"/>
                <a:cs typeface="Avenir"/>
                <a:sym typeface="Avenir"/>
              </a:defRPr>
            </a:lvl5pPr>
            <a:lvl6pPr indent="0" lvl="5" marL="0" algn="r">
              <a:spcBef>
                <a:spcPts val="0"/>
              </a:spcBef>
              <a:buNone/>
              <a:defRPr sz="800">
                <a:solidFill>
                  <a:srgbClr val="262626"/>
                </a:solidFill>
                <a:latin typeface="Avenir"/>
                <a:ea typeface="Avenir"/>
                <a:cs typeface="Avenir"/>
                <a:sym typeface="Avenir"/>
              </a:defRPr>
            </a:lvl6pPr>
            <a:lvl7pPr indent="0" lvl="6" marL="0" algn="r">
              <a:spcBef>
                <a:spcPts val="0"/>
              </a:spcBef>
              <a:buNone/>
              <a:defRPr sz="800">
                <a:solidFill>
                  <a:srgbClr val="262626"/>
                </a:solidFill>
                <a:latin typeface="Avenir"/>
                <a:ea typeface="Avenir"/>
                <a:cs typeface="Avenir"/>
                <a:sym typeface="Avenir"/>
              </a:defRPr>
            </a:lvl7pPr>
            <a:lvl8pPr indent="0" lvl="7" marL="0" algn="r">
              <a:spcBef>
                <a:spcPts val="0"/>
              </a:spcBef>
              <a:buNone/>
              <a:defRPr sz="800">
                <a:solidFill>
                  <a:srgbClr val="262626"/>
                </a:solidFill>
                <a:latin typeface="Avenir"/>
                <a:ea typeface="Avenir"/>
                <a:cs typeface="Avenir"/>
                <a:sym typeface="Avenir"/>
              </a:defRPr>
            </a:lvl8pPr>
            <a:lvl9pPr indent="0" lvl="8" marL="0" algn="r">
              <a:spcBef>
                <a:spcPts val="0"/>
              </a:spcBef>
              <a:buNone/>
              <a:defRPr sz="800">
                <a:solidFill>
                  <a:srgbClr val="262626"/>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9" name="Shape 109"/>
        <p:cNvGrpSpPr/>
        <p:nvPr/>
      </p:nvGrpSpPr>
      <p:grpSpPr>
        <a:xfrm>
          <a:off x="0" y="0"/>
          <a:ext cx="0" cy="0"/>
          <a:chOff x="0" y="0"/>
          <a:chExt cx="0" cy="0"/>
        </a:xfrm>
      </p:grpSpPr>
      <p:sp>
        <p:nvSpPr>
          <p:cNvPr id="110" name="Google Shape;110;p31"/>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1"/>
          <p:cNvSpPr/>
          <p:nvPr>
            <p:ph idx="2" type="pic"/>
          </p:nvPr>
        </p:nvSpPr>
        <p:spPr>
          <a:xfrm>
            <a:off x="228599" y="237744"/>
            <a:ext cx="7696201" cy="6382512"/>
          </a:xfrm>
          <a:prstGeom prst="rect">
            <a:avLst/>
          </a:prstGeom>
          <a:solidFill>
            <a:srgbClr val="BED2E3"/>
          </a:solidFill>
          <a:ln>
            <a:noFill/>
          </a:ln>
        </p:spPr>
      </p:sp>
      <p:sp>
        <p:nvSpPr>
          <p:cNvPr id="112" name="Google Shape;112;p31"/>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1"/>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1"/>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115" name="Google Shape;115;p31"/>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1"/>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Avenir"/>
              <a:buNone/>
              <a:defRPr b="0" sz="3200">
                <a:solidFill>
                  <a:schemeClr val="dk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31"/>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0"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 name="Google Shape;11;p21"/>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1"/>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000"/>
              <a:buFont typeface="Avenir"/>
              <a:buNone/>
              <a:defRPr b="0" i="0" sz="4000" u="none" cap="none" strike="noStrike">
                <a:solidFill>
                  <a:srgbClr val="262626"/>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1"/>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23850" lvl="0" marL="457200" marR="0" rtl="0" algn="l">
              <a:lnSpc>
                <a:spcPct val="110000"/>
              </a:lnSpc>
              <a:spcBef>
                <a:spcPts val="900"/>
              </a:spcBef>
              <a:spcAft>
                <a:spcPts val="0"/>
              </a:spcAft>
              <a:buClr>
                <a:srgbClr val="262626"/>
              </a:buClr>
              <a:buSzPts val="1500"/>
              <a:buFont typeface="Garamond"/>
              <a:buChar char="◦"/>
              <a:defRPr b="0" i="0" sz="1500" u="none" cap="none" strike="noStrike">
                <a:solidFill>
                  <a:schemeClr val="dk1"/>
                </a:solidFill>
                <a:latin typeface="Avenir"/>
                <a:ea typeface="Avenir"/>
                <a:cs typeface="Avenir"/>
                <a:sym typeface="Avenir"/>
              </a:defRPr>
            </a:lvl1pPr>
            <a:lvl2pPr indent="-311150" lvl="1" marL="914400" marR="0" rtl="0" algn="l">
              <a:lnSpc>
                <a:spcPct val="100000"/>
              </a:lnSpc>
              <a:spcBef>
                <a:spcPts val="500"/>
              </a:spcBef>
              <a:spcAft>
                <a:spcPts val="0"/>
              </a:spcAft>
              <a:buClr>
                <a:srgbClr val="262626"/>
              </a:buClr>
              <a:buSzPts val="1300"/>
              <a:buFont typeface="Garamond"/>
              <a:buChar char="◦"/>
              <a:defRPr b="0" i="0" sz="1300" u="none" cap="none" strike="noStrike">
                <a:solidFill>
                  <a:schemeClr val="dk1"/>
                </a:solidFill>
                <a:latin typeface="Avenir"/>
                <a:ea typeface="Avenir"/>
                <a:cs typeface="Avenir"/>
                <a:sym typeface="Avenir"/>
              </a:defRPr>
            </a:lvl2pPr>
            <a:lvl3pPr indent="-304800" lvl="2" marL="13716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3pPr>
            <a:lvl4pPr indent="-304800" lvl="3" marL="18288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4pPr>
            <a:lvl5pPr indent="-304800" lvl="4" marL="22860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9pPr>
          </a:lstStyle>
          <a:p/>
        </p:txBody>
      </p:sp>
      <p:sp>
        <p:nvSpPr>
          <p:cNvPr id="15" name="Google Shape;15;p21"/>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3F3F3F"/>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6" name="Google Shape;16;p21"/>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262626"/>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7" name="Google Shape;17;p21"/>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3F3F3F"/>
                </a:solidFill>
                <a:latin typeface="Avenir"/>
                <a:ea typeface="Avenir"/>
                <a:cs typeface="Avenir"/>
                <a:sym typeface="Avenir"/>
              </a:defRPr>
            </a:lvl1pPr>
            <a:lvl2pPr indent="0" lvl="1" marL="0" marR="0" rtl="0" algn="r">
              <a:spcBef>
                <a:spcPts val="0"/>
              </a:spcBef>
              <a:buNone/>
              <a:defRPr b="0" i="0" sz="800" u="none" cap="none" strike="noStrike">
                <a:solidFill>
                  <a:srgbClr val="3F3F3F"/>
                </a:solidFill>
                <a:latin typeface="Avenir"/>
                <a:ea typeface="Avenir"/>
                <a:cs typeface="Avenir"/>
                <a:sym typeface="Avenir"/>
              </a:defRPr>
            </a:lvl2pPr>
            <a:lvl3pPr indent="0" lvl="2" marL="0" marR="0" rtl="0" algn="r">
              <a:spcBef>
                <a:spcPts val="0"/>
              </a:spcBef>
              <a:buNone/>
              <a:defRPr b="0" i="0" sz="800" u="none" cap="none" strike="noStrike">
                <a:solidFill>
                  <a:srgbClr val="3F3F3F"/>
                </a:solidFill>
                <a:latin typeface="Avenir"/>
                <a:ea typeface="Avenir"/>
                <a:cs typeface="Avenir"/>
                <a:sym typeface="Avenir"/>
              </a:defRPr>
            </a:lvl3pPr>
            <a:lvl4pPr indent="0" lvl="3" marL="0" marR="0" rtl="0" algn="r">
              <a:spcBef>
                <a:spcPts val="0"/>
              </a:spcBef>
              <a:buNone/>
              <a:defRPr b="0" i="0" sz="800" u="none" cap="none" strike="noStrike">
                <a:solidFill>
                  <a:srgbClr val="3F3F3F"/>
                </a:solidFill>
                <a:latin typeface="Avenir"/>
                <a:ea typeface="Avenir"/>
                <a:cs typeface="Avenir"/>
                <a:sym typeface="Avenir"/>
              </a:defRPr>
            </a:lvl4pPr>
            <a:lvl5pPr indent="0" lvl="4" marL="0" marR="0" rtl="0" algn="r">
              <a:spcBef>
                <a:spcPts val="0"/>
              </a:spcBef>
              <a:buNone/>
              <a:defRPr b="0" i="0" sz="800" u="none" cap="none" strike="noStrike">
                <a:solidFill>
                  <a:srgbClr val="3F3F3F"/>
                </a:solidFill>
                <a:latin typeface="Avenir"/>
                <a:ea typeface="Avenir"/>
                <a:cs typeface="Avenir"/>
                <a:sym typeface="Avenir"/>
              </a:defRPr>
            </a:lvl5pPr>
            <a:lvl6pPr indent="0" lvl="5" marL="0" marR="0" rtl="0" algn="r">
              <a:spcBef>
                <a:spcPts val="0"/>
              </a:spcBef>
              <a:buNone/>
              <a:defRPr b="0" i="0" sz="800" u="none" cap="none" strike="noStrike">
                <a:solidFill>
                  <a:srgbClr val="3F3F3F"/>
                </a:solidFill>
                <a:latin typeface="Avenir"/>
                <a:ea typeface="Avenir"/>
                <a:cs typeface="Avenir"/>
                <a:sym typeface="Avenir"/>
              </a:defRPr>
            </a:lvl6pPr>
            <a:lvl7pPr indent="0" lvl="6" marL="0" marR="0" rtl="0" algn="r">
              <a:spcBef>
                <a:spcPts val="0"/>
              </a:spcBef>
              <a:buNone/>
              <a:defRPr b="0" i="0" sz="800" u="none" cap="none" strike="noStrike">
                <a:solidFill>
                  <a:srgbClr val="3F3F3F"/>
                </a:solidFill>
                <a:latin typeface="Avenir"/>
                <a:ea typeface="Avenir"/>
                <a:cs typeface="Avenir"/>
                <a:sym typeface="Avenir"/>
              </a:defRPr>
            </a:lvl7pPr>
            <a:lvl8pPr indent="0" lvl="7" marL="0" marR="0" rtl="0" algn="r">
              <a:spcBef>
                <a:spcPts val="0"/>
              </a:spcBef>
              <a:buNone/>
              <a:defRPr b="0" i="0" sz="800" u="none" cap="none" strike="noStrike">
                <a:solidFill>
                  <a:srgbClr val="3F3F3F"/>
                </a:solidFill>
                <a:latin typeface="Avenir"/>
                <a:ea typeface="Avenir"/>
                <a:cs typeface="Avenir"/>
                <a:sym typeface="Avenir"/>
              </a:defRPr>
            </a:lvl8pPr>
            <a:lvl9pPr indent="0" lvl="8" marL="0" marR="0" rtl="0" algn="r">
              <a:spcBef>
                <a:spcPts val="0"/>
              </a:spcBef>
              <a:buNone/>
              <a:defRPr b="0" i="0" sz="800" u="none" cap="none" strike="noStrike">
                <a:solidFill>
                  <a:srgbClr val="3F3F3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 name="Google Shape;34;p20"/>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0"/>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4000"/>
              <a:buFont typeface="Avenir"/>
              <a:buNone/>
              <a:defRPr b="0" i="0" sz="4000" u="none" cap="none" strike="noStrike">
                <a:solidFill>
                  <a:srgbClr val="262626"/>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20"/>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23850" lvl="0" marL="457200" marR="0" rtl="0" algn="l">
              <a:lnSpc>
                <a:spcPct val="110000"/>
              </a:lnSpc>
              <a:spcBef>
                <a:spcPts val="900"/>
              </a:spcBef>
              <a:spcAft>
                <a:spcPts val="0"/>
              </a:spcAft>
              <a:buClr>
                <a:srgbClr val="262626"/>
              </a:buClr>
              <a:buSzPts val="1500"/>
              <a:buFont typeface="Garamond"/>
              <a:buChar char="◦"/>
              <a:defRPr b="0" i="0" sz="1500" u="none" cap="none" strike="noStrike">
                <a:solidFill>
                  <a:schemeClr val="dk1"/>
                </a:solidFill>
                <a:latin typeface="Avenir"/>
                <a:ea typeface="Avenir"/>
                <a:cs typeface="Avenir"/>
                <a:sym typeface="Avenir"/>
              </a:defRPr>
            </a:lvl1pPr>
            <a:lvl2pPr indent="-311150" lvl="1" marL="914400" marR="0" rtl="0" algn="l">
              <a:lnSpc>
                <a:spcPct val="100000"/>
              </a:lnSpc>
              <a:spcBef>
                <a:spcPts val="500"/>
              </a:spcBef>
              <a:spcAft>
                <a:spcPts val="0"/>
              </a:spcAft>
              <a:buClr>
                <a:srgbClr val="262626"/>
              </a:buClr>
              <a:buSzPts val="1300"/>
              <a:buFont typeface="Garamond"/>
              <a:buChar char="◦"/>
              <a:defRPr b="0" i="0" sz="1300" u="none" cap="none" strike="noStrike">
                <a:solidFill>
                  <a:schemeClr val="dk1"/>
                </a:solidFill>
                <a:latin typeface="Avenir"/>
                <a:ea typeface="Avenir"/>
                <a:cs typeface="Avenir"/>
                <a:sym typeface="Avenir"/>
              </a:defRPr>
            </a:lvl2pPr>
            <a:lvl3pPr indent="-304800" lvl="2" marL="13716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3pPr>
            <a:lvl4pPr indent="-304800" lvl="3" marL="18288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4pPr>
            <a:lvl5pPr indent="-304800" lvl="4" marL="22860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venir"/>
                <a:ea typeface="Avenir"/>
                <a:cs typeface="Avenir"/>
                <a:sym typeface="Avenir"/>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9pPr>
          </a:lstStyle>
          <a:p/>
        </p:txBody>
      </p:sp>
      <p:sp>
        <p:nvSpPr>
          <p:cNvPr id="38" name="Google Shape;38;p20"/>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3F3F3F"/>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39" name="Google Shape;39;p20"/>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262626"/>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40" name="Google Shape;40;p20"/>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3F3F3F"/>
                </a:solidFill>
                <a:latin typeface="Avenir"/>
                <a:ea typeface="Avenir"/>
                <a:cs typeface="Avenir"/>
                <a:sym typeface="Avenir"/>
              </a:defRPr>
            </a:lvl1pPr>
            <a:lvl2pPr indent="0" lvl="1" marL="0" marR="0" rtl="0" algn="r">
              <a:spcBef>
                <a:spcPts val="0"/>
              </a:spcBef>
              <a:buNone/>
              <a:defRPr b="0" i="0" sz="800" u="none" cap="none" strike="noStrike">
                <a:solidFill>
                  <a:srgbClr val="3F3F3F"/>
                </a:solidFill>
                <a:latin typeface="Avenir"/>
                <a:ea typeface="Avenir"/>
                <a:cs typeface="Avenir"/>
                <a:sym typeface="Avenir"/>
              </a:defRPr>
            </a:lvl2pPr>
            <a:lvl3pPr indent="0" lvl="2" marL="0" marR="0" rtl="0" algn="r">
              <a:spcBef>
                <a:spcPts val="0"/>
              </a:spcBef>
              <a:buNone/>
              <a:defRPr b="0" i="0" sz="800" u="none" cap="none" strike="noStrike">
                <a:solidFill>
                  <a:srgbClr val="3F3F3F"/>
                </a:solidFill>
                <a:latin typeface="Avenir"/>
                <a:ea typeface="Avenir"/>
                <a:cs typeface="Avenir"/>
                <a:sym typeface="Avenir"/>
              </a:defRPr>
            </a:lvl3pPr>
            <a:lvl4pPr indent="0" lvl="3" marL="0" marR="0" rtl="0" algn="r">
              <a:spcBef>
                <a:spcPts val="0"/>
              </a:spcBef>
              <a:buNone/>
              <a:defRPr b="0" i="0" sz="800" u="none" cap="none" strike="noStrike">
                <a:solidFill>
                  <a:srgbClr val="3F3F3F"/>
                </a:solidFill>
                <a:latin typeface="Avenir"/>
                <a:ea typeface="Avenir"/>
                <a:cs typeface="Avenir"/>
                <a:sym typeface="Avenir"/>
              </a:defRPr>
            </a:lvl4pPr>
            <a:lvl5pPr indent="0" lvl="4" marL="0" marR="0" rtl="0" algn="r">
              <a:spcBef>
                <a:spcPts val="0"/>
              </a:spcBef>
              <a:buNone/>
              <a:defRPr b="0" i="0" sz="800" u="none" cap="none" strike="noStrike">
                <a:solidFill>
                  <a:srgbClr val="3F3F3F"/>
                </a:solidFill>
                <a:latin typeface="Avenir"/>
                <a:ea typeface="Avenir"/>
                <a:cs typeface="Avenir"/>
                <a:sym typeface="Avenir"/>
              </a:defRPr>
            </a:lvl5pPr>
            <a:lvl6pPr indent="0" lvl="5" marL="0" marR="0" rtl="0" algn="r">
              <a:spcBef>
                <a:spcPts val="0"/>
              </a:spcBef>
              <a:buNone/>
              <a:defRPr b="0" i="0" sz="800" u="none" cap="none" strike="noStrike">
                <a:solidFill>
                  <a:srgbClr val="3F3F3F"/>
                </a:solidFill>
                <a:latin typeface="Avenir"/>
                <a:ea typeface="Avenir"/>
                <a:cs typeface="Avenir"/>
                <a:sym typeface="Avenir"/>
              </a:defRPr>
            </a:lvl6pPr>
            <a:lvl7pPr indent="0" lvl="6" marL="0" marR="0" rtl="0" algn="r">
              <a:spcBef>
                <a:spcPts val="0"/>
              </a:spcBef>
              <a:buNone/>
              <a:defRPr b="0" i="0" sz="800" u="none" cap="none" strike="noStrike">
                <a:solidFill>
                  <a:srgbClr val="3F3F3F"/>
                </a:solidFill>
                <a:latin typeface="Avenir"/>
                <a:ea typeface="Avenir"/>
                <a:cs typeface="Avenir"/>
                <a:sym typeface="Avenir"/>
              </a:defRPr>
            </a:lvl7pPr>
            <a:lvl8pPr indent="0" lvl="7" marL="0" marR="0" rtl="0" algn="r">
              <a:spcBef>
                <a:spcPts val="0"/>
              </a:spcBef>
              <a:buNone/>
              <a:defRPr b="0" i="0" sz="800" u="none" cap="none" strike="noStrike">
                <a:solidFill>
                  <a:srgbClr val="3F3F3F"/>
                </a:solidFill>
                <a:latin typeface="Avenir"/>
                <a:ea typeface="Avenir"/>
                <a:cs typeface="Avenir"/>
                <a:sym typeface="Avenir"/>
              </a:defRPr>
            </a:lvl8pPr>
            <a:lvl9pPr indent="0" lvl="8" marL="0" marR="0" rtl="0" algn="r">
              <a:spcBef>
                <a:spcPts val="0"/>
              </a:spcBef>
              <a:buNone/>
              <a:defRPr b="0" i="0" sz="800" u="none" cap="none" strike="noStrike">
                <a:solidFill>
                  <a:srgbClr val="3F3F3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vmlDrawing" Target="../drawings/vmlDrawing1.vml"/><Relationship Id="rId4" Type="http://schemas.openxmlformats.org/officeDocument/2006/relationships/package" Target="../embeddings/Microsoft_Excel_Sheet1.xlsx"/><Relationship Id="rId5" Type="http://schemas.openxmlformats.org/officeDocument/2006/relationships/package" Target="../embeddings/Microsoft_Excel_Sheet1.xlsx"/><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package" Target="../embeddings/Microsoft_Excel_Sheet2.xlsx"/><Relationship Id="rId5" Type="http://schemas.openxmlformats.org/officeDocument/2006/relationships/package" Target="../embeddings/Microsoft_Excel_Sheet2.xlsx"/><Relationship Id="rId6"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package" Target="../embeddings/Microsoft_Excel_Sheet3.xlsx"/><Relationship Id="rId5" Type="http://schemas.openxmlformats.org/officeDocument/2006/relationships/package" Target="../embeddings/Microsoft_Excel_Sheet3.xlsx"/><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4.vml"/><Relationship Id="rId4" Type="http://schemas.openxmlformats.org/officeDocument/2006/relationships/package" Target="../embeddings/Microsoft_Excel_Sheet4.xlsx"/><Relationship Id="rId5" Type="http://schemas.openxmlformats.org/officeDocument/2006/relationships/package" Target="../embeddings/Microsoft_Excel_Sheet4.xlsx"/><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vmlDrawing" Target="../drawings/vmlDrawing5.vml"/><Relationship Id="rId4" Type="http://schemas.openxmlformats.org/officeDocument/2006/relationships/package" Target="../embeddings/Microsoft_Excel_Sheet5.xlsx"/><Relationship Id="rId5" Type="http://schemas.openxmlformats.org/officeDocument/2006/relationships/package" Target="../embeddings/Microsoft_Excel_Sheet5.xlsx"/><Relationship Id="rId6"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pic>
        <p:nvPicPr>
          <p:cNvPr descr="flower illustrations" id="123" name="Google Shape;123;p1"/>
          <p:cNvPicPr preferRelativeResize="0"/>
          <p:nvPr/>
        </p:nvPicPr>
        <p:blipFill rotWithShape="1">
          <a:blip r:embed="rId3">
            <a:alphaModFix/>
          </a:blip>
          <a:srcRect b="0" l="0" r="0" t="0"/>
          <a:stretch/>
        </p:blipFill>
        <p:spPr>
          <a:xfrm>
            <a:off x="20" y="3245"/>
            <a:ext cx="12191980" cy="6858000"/>
          </a:xfrm>
          <a:prstGeom prst="rect">
            <a:avLst/>
          </a:prstGeom>
          <a:noFill/>
          <a:ln>
            <a:noFill/>
          </a:ln>
        </p:spPr>
      </p:pic>
      <p:sp>
        <p:nvSpPr>
          <p:cNvPr id="124" name="Google Shape;124;p1"/>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
          <p:cNvSpPr txBox="1"/>
          <p:nvPr>
            <p:ph type="ctrTitle"/>
          </p:nvPr>
        </p:nvSpPr>
        <p:spPr>
          <a:xfrm>
            <a:off x="1893562" y="3022928"/>
            <a:ext cx="8649600" cy="1337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83000"/>
              </a:lnSpc>
              <a:spcBef>
                <a:spcPts val="0"/>
              </a:spcBef>
              <a:spcAft>
                <a:spcPts val="0"/>
              </a:spcAft>
              <a:buClr>
                <a:srgbClr val="3C4858"/>
              </a:buClr>
              <a:buSzPct val="100000"/>
              <a:buFont typeface="Manrope"/>
              <a:buNone/>
            </a:pPr>
            <a:r>
              <a:rPr b="1" i="0" lang="en-IN">
                <a:solidFill>
                  <a:srgbClr val="3C4858"/>
                </a:solidFill>
                <a:latin typeface="Manrope"/>
                <a:ea typeface="Manrope"/>
                <a:cs typeface="Manrope"/>
                <a:sym typeface="Manrope"/>
              </a:rPr>
              <a:t>IMDB MOVIE ANALYSIS</a:t>
            </a:r>
            <a:br>
              <a:rPr b="1" i="0" lang="en-IN">
                <a:solidFill>
                  <a:srgbClr val="3C4858"/>
                </a:solidFill>
                <a:latin typeface="Manrope"/>
                <a:ea typeface="Manrope"/>
                <a:cs typeface="Manrope"/>
                <a:sym typeface="Manrope"/>
              </a:rPr>
            </a:br>
            <a:endParaRPr sz="6800"/>
          </a:p>
        </p:txBody>
      </p:sp>
      <p:sp>
        <p:nvSpPr>
          <p:cNvPr id="127" name="Google Shape;127;p1"/>
          <p:cNvSpPr txBox="1"/>
          <p:nvPr>
            <p:ph idx="1" type="subTitle"/>
          </p:nvPr>
        </p:nvSpPr>
        <p:spPr>
          <a:xfrm>
            <a:off x="1771130" y="4682062"/>
            <a:ext cx="8652788" cy="457201"/>
          </a:xfrm>
          <a:prstGeom prst="rect">
            <a:avLst/>
          </a:prstGeom>
          <a:noFill/>
          <a:ln>
            <a:noFill/>
          </a:ln>
        </p:spPr>
        <p:txBody>
          <a:bodyPr anchorCtr="0" anchor="t" bIns="45700" lIns="91425" spcFirstLastPara="1" rIns="91425" wrap="square" tIns="45700">
            <a:normAutofit/>
          </a:bodyPr>
          <a:lstStyle/>
          <a:p>
            <a:pPr indent="0" lvl="0" marL="0" rtl="0" algn="ctr">
              <a:lnSpc>
                <a:spcPct val="110000"/>
              </a:lnSpc>
              <a:spcBef>
                <a:spcPts val="0"/>
              </a:spcBef>
              <a:spcAft>
                <a:spcPts val="0"/>
              </a:spcAft>
              <a:buSzPts val="1800"/>
              <a:buNone/>
            </a:pPr>
            <a:r>
              <a:t/>
            </a:r>
            <a:endParaRPr sz="1800"/>
          </a:p>
        </p:txBody>
      </p:sp>
      <p:sp>
        <p:nvSpPr>
          <p:cNvPr id="128" name="Google Shape;128;p1"/>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
          <p:cNvCxnSpPr/>
          <p:nvPr/>
        </p:nvCxnSpPr>
        <p:spPr>
          <a:xfrm>
            <a:off x="5250180" y="1267730"/>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130" name="Google Shape;130;p1"/>
          <p:cNvCxnSpPr/>
          <p:nvPr/>
        </p:nvCxnSpPr>
        <p:spPr>
          <a:xfrm>
            <a:off x="6941820" y="1267730"/>
            <a:ext cx="0" cy="640080"/>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131" name="Google Shape;131;p1"/>
          <p:cNvCxnSpPr/>
          <p:nvPr/>
        </p:nvCxnSpPr>
        <p:spPr>
          <a:xfrm>
            <a:off x="5250180" y="1913025"/>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
          <p:cNvSpPr txBox="1"/>
          <p:nvPr>
            <p:ph idx="1" type="body"/>
          </p:nvPr>
        </p:nvSpPr>
        <p:spPr>
          <a:xfrm>
            <a:off x="958645" y="697106"/>
            <a:ext cx="10058400" cy="5467719"/>
          </a:xfrm>
          <a:prstGeom prst="rect">
            <a:avLst/>
          </a:prstGeom>
          <a:noFill/>
          <a:ln>
            <a:noFill/>
          </a:ln>
        </p:spPr>
        <p:txBody>
          <a:bodyPr anchorCtr="0" anchor="t" bIns="45700" lIns="91425" spcFirstLastPara="1" rIns="91425" wrap="square" tIns="45700">
            <a:normAutofit/>
          </a:bodyPr>
          <a:lstStyle/>
          <a:p>
            <a:pPr indent="-182880" lvl="0" marL="182880" rtl="0" algn="l">
              <a:lnSpc>
                <a:spcPct val="110000"/>
              </a:lnSpc>
              <a:spcBef>
                <a:spcPts val="0"/>
              </a:spcBef>
              <a:spcAft>
                <a:spcPts val="0"/>
              </a:spcAft>
              <a:buSzPts val="2000"/>
              <a:buChar char="◦"/>
            </a:pPr>
            <a:r>
              <a:rPr b="1" lang="en-IN" sz="2000">
                <a:latin typeface="Cambria Math"/>
                <a:ea typeface="Cambria Math"/>
                <a:cs typeface="Cambria Math"/>
                <a:sym typeface="Cambria Math"/>
              </a:rPr>
              <a:t>PROJECT DESCRIPTION</a:t>
            </a:r>
            <a:endParaRPr sz="2000">
              <a:latin typeface="Arial"/>
              <a:ea typeface="Arial"/>
              <a:cs typeface="Arial"/>
              <a:sym typeface="Arial"/>
            </a:endParaRPr>
          </a:p>
          <a:p>
            <a:pPr indent="-182880" lvl="0" marL="182880" rtl="0" algn="ctr">
              <a:lnSpc>
                <a:spcPct val="115000"/>
              </a:lnSpc>
              <a:spcBef>
                <a:spcPts val="900"/>
              </a:spcBef>
              <a:spcAft>
                <a:spcPts val="0"/>
              </a:spcAft>
              <a:buSzPts val="1600"/>
              <a:buChar char="◦"/>
            </a:pPr>
            <a:r>
              <a:rPr b="1" lang="en-IN" sz="1600">
                <a:latin typeface="Lustria"/>
                <a:ea typeface="Lustria"/>
                <a:cs typeface="Lustria"/>
                <a:sym typeface="Lustria"/>
              </a:rPr>
              <a:t>Problem Statement</a:t>
            </a:r>
            <a:r>
              <a:rPr b="1" lang="en-IN" sz="1700">
                <a:latin typeface="Lustria"/>
                <a:ea typeface="Lustria"/>
                <a:cs typeface="Lustria"/>
                <a:sym typeface="Lustria"/>
              </a:rPr>
              <a:t>:</a:t>
            </a:r>
            <a:r>
              <a:rPr lang="en-IN" sz="1700">
                <a:latin typeface="Lustria"/>
                <a:ea typeface="Lustria"/>
                <a:cs typeface="Lustria"/>
                <a:sym typeface="Lustria"/>
              </a:rPr>
              <a:t> The dataset provided is related to IMDB Movies. A potential problem to investigate could be: "What factors influence the success of a movie on IMDB?" </a:t>
            </a:r>
            <a:endParaRPr sz="1700">
              <a:latin typeface="Arial"/>
              <a:ea typeface="Arial"/>
              <a:cs typeface="Arial"/>
              <a:sym typeface="Arial"/>
            </a:endParaRPr>
          </a:p>
          <a:p>
            <a:pPr indent="-182880" lvl="0" marL="182880" rtl="0" algn="ctr">
              <a:lnSpc>
                <a:spcPct val="115000"/>
              </a:lnSpc>
              <a:spcBef>
                <a:spcPts val="1700"/>
              </a:spcBef>
              <a:spcAft>
                <a:spcPts val="0"/>
              </a:spcAft>
              <a:buSzPts val="1700"/>
              <a:buChar char="◦"/>
            </a:pPr>
            <a:r>
              <a:rPr lang="en-IN" sz="1700">
                <a:latin typeface="Lustria"/>
                <a:ea typeface="Lustria"/>
                <a:cs typeface="Lustria"/>
                <a:sym typeface="Lustria"/>
              </a:rPr>
              <a:t>Here, success can be defined by high IMDB ratings. The impact of this problem is significant for movie producers, directors, and investors who want to understand what makes a movie successful to make informed decisions in their future projects.</a:t>
            </a:r>
            <a:endParaRPr sz="1700">
              <a:latin typeface="Arial"/>
              <a:ea typeface="Arial"/>
              <a:cs typeface="Arial"/>
              <a:sym typeface="Arial"/>
            </a:endParaRPr>
          </a:p>
          <a:p>
            <a:pPr indent="-182880" lvl="0" marL="182880" rtl="0" algn="ctr">
              <a:lnSpc>
                <a:spcPct val="115000"/>
              </a:lnSpc>
              <a:spcBef>
                <a:spcPts val="1700"/>
              </a:spcBef>
              <a:spcAft>
                <a:spcPts val="0"/>
              </a:spcAft>
              <a:buSzPts val="1700"/>
              <a:buChar char="◦"/>
            </a:pPr>
            <a:r>
              <a:rPr lang="en-IN" sz="1700">
                <a:latin typeface="Lustria"/>
                <a:ea typeface="Lustria"/>
                <a:cs typeface="Lustria"/>
                <a:sym typeface="Lustria"/>
              </a:rPr>
              <a:t>So as a Data analyst, analysing IMDB could potentially provide insights, patterns and recommendations so that it could influence future projects and could possibly thrive for growth related to projects </a:t>
            </a:r>
            <a:endParaRPr sz="1700">
              <a:latin typeface="Arial"/>
              <a:ea typeface="Arial"/>
              <a:cs typeface="Arial"/>
              <a:sym typeface="Arial"/>
            </a:endParaRPr>
          </a:p>
          <a:p>
            <a:pPr indent="-182880" lvl="0" marL="182880" rtl="0" algn="ctr">
              <a:lnSpc>
                <a:spcPct val="115000"/>
              </a:lnSpc>
              <a:spcBef>
                <a:spcPts val="1700"/>
              </a:spcBef>
              <a:spcAft>
                <a:spcPts val="0"/>
              </a:spcAft>
              <a:buSzPts val="1700"/>
              <a:buChar char="◦"/>
            </a:pPr>
            <a:r>
              <a:rPr lang="en-IN" sz="1700">
                <a:latin typeface="Lustria"/>
                <a:ea typeface="Lustria"/>
                <a:cs typeface="Lustria"/>
                <a:sym typeface="Lustria"/>
              </a:rPr>
              <a:t>The primary Attributes which we would analyse includes</a:t>
            </a:r>
            <a:endParaRPr sz="1700">
              <a:latin typeface="Arial"/>
              <a:ea typeface="Arial"/>
              <a:cs typeface="Arial"/>
              <a:sym typeface="Arial"/>
            </a:endParaRPr>
          </a:p>
          <a:p>
            <a:pPr indent="-342900" lvl="0" marL="342900" rtl="0" algn="l">
              <a:lnSpc>
                <a:spcPct val="115000"/>
              </a:lnSpc>
              <a:spcBef>
                <a:spcPts val="1700"/>
              </a:spcBef>
              <a:spcAft>
                <a:spcPts val="0"/>
              </a:spcAft>
              <a:buSzPts val="1700"/>
              <a:buFont typeface="Noto Sans Symbols"/>
              <a:buChar char="∙"/>
            </a:pPr>
            <a:r>
              <a:rPr lang="en-IN" sz="1700">
                <a:latin typeface="Lustria"/>
                <a:ea typeface="Lustria"/>
                <a:cs typeface="Lustria"/>
                <a:sym typeface="Lustria"/>
              </a:rPr>
              <a:t>Title name</a:t>
            </a:r>
            <a:endParaRPr sz="1700">
              <a:latin typeface="Arial"/>
              <a:ea typeface="Arial"/>
              <a:cs typeface="Arial"/>
              <a:sym typeface="Arial"/>
            </a:endParaRPr>
          </a:p>
          <a:p>
            <a:pPr indent="-342900" lvl="0" marL="342900" rtl="0" algn="l">
              <a:lnSpc>
                <a:spcPct val="115000"/>
              </a:lnSpc>
              <a:spcBef>
                <a:spcPts val="900"/>
              </a:spcBef>
              <a:spcAft>
                <a:spcPts val="0"/>
              </a:spcAft>
              <a:buSzPts val="1700"/>
              <a:buFont typeface="Noto Sans Symbols"/>
              <a:buChar char="∙"/>
            </a:pPr>
            <a:r>
              <a:rPr lang="en-IN" sz="1700">
                <a:latin typeface="Lustria"/>
                <a:ea typeface="Lustria"/>
                <a:cs typeface="Lustria"/>
                <a:sym typeface="Lustria"/>
              </a:rPr>
              <a:t>Genres</a:t>
            </a:r>
            <a:endParaRPr sz="1700">
              <a:latin typeface="Arial"/>
              <a:ea typeface="Arial"/>
              <a:cs typeface="Arial"/>
              <a:sym typeface="Arial"/>
            </a:endParaRPr>
          </a:p>
          <a:p>
            <a:pPr indent="-342900" lvl="0" marL="342900" rtl="0" algn="l">
              <a:lnSpc>
                <a:spcPct val="115000"/>
              </a:lnSpc>
              <a:spcBef>
                <a:spcPts val="900"/>
              </a:spcBef>
              <a:spcAft>
                <a:spcPts val="0"/>
              </a:spcAft>
              <a:buSzPts val="1700"/>
              <a:buFont typeface="Noto Sans Symbols"/>
              <a:buChar char="∙"/>
            </a:pPr>
            <a:r>
              <a:rPr lang="en-IN" sz="1700">
                <a:latin typeface="Lustria"/>
                <a:ea typeface="Lustria"/>
                <a:cs typeface="Lustria"/>
                <a:sym typeface="Lustria"/>
              </a:rPr>
              <a:t>Directors</a:t>
            </a:r>
            <a:endParaRPr sz="1700">
              <a:latin typeface="Arial"/>
              <a:ea typeface="Arial"/>
              <a:cs typeface="Arial"/>
              <a:sym typeface="Arial"/>
            </a:endParaRPr>
          </a:p>
          <a:p>
            <a:pPr indent="-342900" lvl="0" marL="342900" rtl="0" algn="l">
              <a:lnSpc>
                <a:spcPct val="115000"/>
              </a:lnSpc>
              <a:spcBef>
                <a:spcPts val="900"/>
              </a:spcBef>
              <a:spcAft>
                <a:spcPts val="0"/>
              </a:spcAft>
              <a:buSzPts val="1700"/>
              <a:buFont typeface="Noto Sans Symbols"/>
              <a:buChar char="∙"/>
            </a:pPr>
            <a:r>
              <a:rPr lang="en-IN" sz="1700">
                <a:latin typeface="Lustria"/>
                <a:ea typeface="Lustria"/>
                <a:cs typeface="Lustria"/>
                <a:sym typeface="Lustria"/>
              </a:rPr>
              <a:t>Cast and crew </a:t>
            </a:r>
            <a:endParaRPr sz="1700">
              <a:latin typeface="Arial"/>
              <a:ea typeface="Arial"/>
              <a:cs typeface="Arial"/>
              <a:sym typeface="Arial"/>
            </a:endParaRPr>
          </a:p>
          <a:p>
            <a:pPr indent="-87629" lvl="0" marL="182880" rtl="0" algn="l">
              <a:lnSpc>
                <a:spcPct val="110000"/>
              </a:lnSpc>
              <a:spcBef>
                <a:spcPts val="1700"/>
              </a:spcBef>
              <a:spcAft>
                <a:spcPts val="0"/>
              </a:spcAft>
              <a:buSzPts val="15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
          <p:cNvSpPr txBox="1"/>
          <p:nvPr>
            <p:ph idx="1" type="body"/>
          </p:nvPr>
        </p:nvSpPr>
        <p:spPr>
          <a:xfrm>
            <a:off x="698090" y="628281"/>
            <a:ext cx="10668000" cy="5516879"/>
          </a:xfrm>
          <a:prstGeom prst="rect">
            <a:avLst/>
          </a:prstGeom>
          <a:noFill/>
          <a:ln>
            <a:noFill/>
          </a:ln>
        </p:spPr>
        <p:txBody>
          <a:bodyPr anchorCtr="0" anchor="t" bIns="45700" lIns="91425" spcFirstLastPara="1" rIns="91425" wrap="square" tIns="45700">
            <a:normAutofit fontScale="77500" lnSpcReduction="20000"/>
          </a:bodyPr>
          <a:lstStyle/>
          <a:p>
            <a:pPr indent="-342931" lvl="0" marL="342900" rtl="0" algn="l">
              <a:lnSpc>
                <a:spcPct val="115000"/>
              </a:lnSpc>
              <a:spcBef>
                <a:spcPts val="0"/>
              </a:spcBef>
              <a:spcAft>
                <a:spcPts val="0"/>
              </a:spcAft>
              <a:buSzPct val="100000"/>
              <a:buFont typeface="Noto Sans Symbols"/>
              <a:buChar char="∙"/>
            </a:pPr>
            <a:r>
              <a:rPr lang="en-IN" sz="2100">
                <a:latin typeface="Lustria"/>
                <a:ea typeface="Lustria"/>
                <a:cs typeface="Lustria"/>
                <a:sym typeface="Lustria"/>
              </a:rPr>
              <a:t>Duration</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IMDB score</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Ratings</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Reviews</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Awards and nominations</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Box office earnings</a:t>
            </a:r>
            <a:endParaRPr sz="2100">
              <a:latin typeface="Arial"/>
              <a:ea typeface="Arial"/>
              <a:cs typeface="Arial"/>
              <a:sym typeface="Arial"/>
            </a:endParaRPr>
          </a:p>
          <a:p>
            <a:pPr indent="0" lvl="0" marL="274320" rtl="0" algn="l">
              <a:lnSpc>
                <a:spcPct val="115000"/>
              </a:lnSpc>
              <a:spcBef>
                <a:spcPts val="900"/>
              </a:spcBef>
              <a:spcAft>
                <a:spcPts val="0"/>
              </a:spcAft>
              <a:buSzPct val="100000"/>
              <a:buNone/>
            </a:pPr>
            <a:r>
              <a:rPr lang="en-IN" sz="2100">
                <a:latin typeface="Lustria"/>
                <a:ea typeface="Lustria"/>
                <a:cs typeface="Lustria"/>
                <a:sym typeface="Lustria"/>
              </a:rPr>
              <a:t>And the list goes on with various factors effecting film’s success or failure </a:t>
            </a:r>
            <a:endParaRPr sz="2100">
              <a:latin typeface="Arial"/>
              <a:ea typeface="Arial"/>
              <a:cs typeface="Arial"/>
              <a:sym typeface="Arial"/>
            </a:endParaRPr>
          </a:p>
          <a:p>
            <a:pPr indent="0" lvl="0" marL="274320" rtl="0" algn="l">
              <a:lnSpc>
                <a:spcPct val="115000"/>
              </a:lnSpc>
              <a:spcBef>
                <a:spcPts val="900"/>
              </a:spcBef>
              <a:spcAft>
                <a:spcPts val="0"/>
              </a:spcAft>
              <a:buSzPct val="100000"/>
              <a:buNone/>
            </a:pPr>
            <a:r>
              <a:rPr b="1" lang="en-IN" sz="2100">
                <a:latin typeface="Lustria"/>
                <a:ea typeface="Lustria"/>
                <a:cs typeface="Lustria"/>
                <a:sym typeface="Lustria"/>
              </a:rPr>
              <a:t>Data Cleaning</a:t>
            </a:r>
            <a:r>
              <a:rPr lang="en-IN" sz="2100">
                <a:latin typeface="Lustria"/>
                <a:ea typeface="Lustria"/>
                <a:cs typeface="Lustria"/>
                <a:sym typeface="Lustria"/>
              </a:rPr>
              <a:t>:</a:t>
            </a:r>
            <a:endParaRPr/>
          </a:p>
          <a:p>
            <a:pPr indent="0" lvl="0" marL="274320" rtl="0" algn="l">
              <a:lnSpc>
                <a:spcPct val="115000"/>
              </a:lnSpc>
              <a:spcBef>
                <a:spcPts val="900"/>
              </a:spcBef>
              <a:spcAft>
                <a:spcPts val="0"/>
              </a:spcAft>
              <a:buSzPct val="100000"/>
              <a:buNone/>
            </a:pPr>
            <a:r>
              <a:rPr lang="en-IN" sz="2100">
                <a:latin typeface="Lustria"/>
                <a:ea typeface="Lustria"/>
                <a:cs typeface="Lustria"/>
                <a:sym typeface="Lustria"/>
              </a:rPr>
              <a:t> This step involves preprocessing the data to make it suitable for analysis. It includes handling missing values, removing duplicates, converting data types if necessary, and possibly feature engineering.</a:t>
            </a:r>
            <a:endParaRPr sz="2100">
              <a:latin typeface="Arial"/>
              <a:ea typeface="Arial"/>
              <a:cs typeface="Arial"/>
              <a:sym typeface="Arial"/>
            </a:endParaRPr>
          </a:p>
          <a:p>
            <a:pPr indent="0" lvl="0" marL="274320" rtl="0" algn="l">
              <a:lnSpc>
                <a:spcPct val="115000"/>
              </a:lnSpc>
              <a:spcBef>
                <a:spcPts val="900"/>
              </a:spcBef>
              <a:spcAft>
                <a:spcPts val="0"/>
              </a:spcAft>
              <a:buSzPct val="100000"/>
              <a:buNone/>
            </a:pPr>
            <a:r>
              <a:rPr lang="en-IN" sz="2100">
                <a:latin typeface="Lustria"/>
                <a:ea typeface="Lustria"/>
                <a:cs typeface="Lustria"/>
                <a:sym typeface="Lustria"/>
              </a:rPr>
              <a:t>So as of now we’ve been provided with a dataset which consists of numerous columns and some of them aren’t actually needed to go through as that wouldn’t affect overall so I would like to remove columns which aren’t needed </a:t>
            </a:r>
            <a:endParaRPr sz="2100">
              <a:latin typeface="Arial"/>
              <a:ea typeface="Arial"/>
              <a:cs typeface="Arial"/>
              <a:sym typeface="Arial"/>
            </a:endParaRPr>
          </a:p>
          <a:p>
            <a:pPr indent="0" lvl="0" marL="274320" rtl="0" algn="l">
              <a:lnSpc>
                <a:spcPct val="115000"/>
              </a:lnSpc>
              <a:spcBef>
                <a:spcPts val="900"/>
              </a:spcBef>
              <a:spcAft>
                <a:spcPts val="0"/>
              </a:spcAft>
              <a:buSzPct val="100000"/>
              <a:buNone/>
            </a:pPr>
            <a:r>
              <a:rPr lang="en-IN" sz="2100">
                <a:latin typeface="Lustria"/>
                <a:ea typeface="Lustria"/>
                <a:cs typeface="Lustria"/>
                <a:sym typeface="Lustria"/>
              </a:rPr>
              <a:t>I would like to cut down which aren’t that of use </a:t>
            </a:r>
            <a:endParaRPr sz="2100">
              <a:latin typeface="Arial"/>
              <a:ea typeface="Arial"/>
              <a:cs typeface="Arial"/>
              <a:sym typeface="Arial"/>
            </a:endParaRPr>
          </a:p>
          <a:p>
            <a:pPr indent="0" lvl="0" marL="274320" rtl="0" algn="l">
              <a:lnSpc>
                <a:spcPct val="115000"/>
              </a:lnSpc>
              <a:spcBef>
                <a:spcPts val="900"/>
              </a:spcBef>
              <a:spcAft>
                <a:spcPts val="0"/>
              </a:spcAft>
              <a:buSzPct val="100000"/>
              <a:buNone/>
            </a:pPr>
            <a:r>
              <a:rPr lang="en-IN" sz="2100">
                <a:latin typeface="Lustria"/>
                <a:ea typeface="Lustria"/>
                <a:cs typeface="Lustria"/>
                <a:sym typeface="Lustria"/>
              </a:rPr>
              <a:t>List of columns I’ve taken out are as follows</a:t>
            </a:r>
            <a:endParaRPr sz="2100">
              <a:latin typeface="Arial"/>
              <a:ea typeface="Arial"/>
              <a:cs typeface="Arial"/>
              <a:sym typeface="Arial"/>
            </a:endParaRPr>
          </a:p>
          <a:p>
            <a:pPr indent="-342931" lvl="0" marL="342900" rtl="0" algn="l">
              <a:lnSpc>
                <a:spcPct val="115000"/>
              </a:lnSpc>
              <a:spcBef>
                <a:spcPts val="1700"/>
              </a:spcBef>
              <a:spcAft>
                <a:spcPts val="0"/>
              </a:spcAft>
              <a:buSzPct val="100000"/>
              <a:buFont typeface="Noto Sans Symbols"/>
              <a:buChar char="∙"/>
            </a:pPr>
            <a:r>
              <a:rPr lang="en-IN" sz="2100">
                <a:latin typeface="Lustria"/>
                <a:ea typeface="Lustria"/>
                <a:cs typeface="Lustria"/>
                <a:sym typeface="Lustria"/>
              </a:rPr>
              <a:t>Color</a:t>
            </a:r>
            <a:endParaRPr sz="2100">
              <a:latin typeface="Arial"/>
              <a:ea typeface="Arial"/>
              <a:cs typeface="Arial"/>
              <a:sym typeface="Arial"/>
            </a:endParaRPr>
          </a:p>
          <a:p>
            <a:pPr indent="-342931" lvl="0" marL="342900" rtl="0" algn="l">
              <a:lnSpc>
                <a:spcPct val="115000"/>
              </a:lnSpc>
              <a:spcBef>
                <a:spcPts val="900"/>
              </a:spcBef>
              <a:spcAft>
                <a:spcPts val="0"/>
              </a:spcAft>
              <a:buSzPct val="100000"/>
              <a:buFont typeface="Noto Sans Symbols"/>
              <a:buChar char="∙"/>
            </a:pPr>
            <a:r>
              <a:rPr lang="en-IN" sz="2100">
                <a:latin typeface="Lustria"/>
                <a:ea typeface="Lustria"/>
                <a:cs typeface="Lustria"/>
                <a:sym typeface="Lustria"/>
              </a:rPr>
              <a:t>num_critic_for_reviews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nvSpPr>
        <p:spPr>
          <a:xfrm>
            <a:off x="722671" y="688258"/>
            <a:ext cx="10746658" cy="573432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director_facebook_likes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actor_3_facebook_likes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actor_2_name</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actor_1_facebook_likes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num_voted_users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cast_total_facebook_likes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actor_3_name</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facenumber_in_poster</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plot_keywords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movie_imdb_link</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num_user_for_reviews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country</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content_rating</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actor_2_facebook_likes</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aspect_ratio</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600"/>
              <a:buFont typeface="Noto Sans Symbols"/>
              <a:buChar char="∙"/>
            </a:pPr>
            <a:r>
              <a:rPr b="0" i="0" lang="en-IN" sz="1600" u="none" cap="none" strike="noStrike">
                <a:solidFill>
                  <a:schemeClr val="dk1"/>
                </a:solidFill>
                <a:latin typeface="Lustria"/>
                <a:ea typeface="Lustria"/>
                <a:cs typeface="Lustria"/>
                <a:sym typeface="Lustria"/>
              </a:rPr>
              <a:t>movie_facebook_likes</a:t>
            </a:r>
            <a:endParaRPr b="0" i="0" sz="1600" u="none" cap="none" strike="noStrike">
              <a:solidFill>
                <a:schemeClr val="dk1"/>
              </a:solidFill>
              <a:latin typeface="Lustria"/>
              <a:ea typeface="Lustria"/>
              <a:cs typeface="Lustria"/>
              <a:sym typeface="Lustria"/>
            </a:endParaRPr>
          </a:p>
          <a:p>
            <a:pPr indent="-342900" lvl="0" marL="342900" marR="0" rtl="0" algn="l">
              <a:lnSpc>
                <a:spcPct val="115000"/>
              </a:lnSpc>
              <a:spcBef>
                <a:spcPts val="800"/>
              </a:spcBef>
              <a:spcAft>
                <a:spcPts val="0"/>
              </a:spcAft>
              <a:buClr>
                <a:schemeClr val="dk1"/>
              </a:buClr>
              <a:buSzPts val="1800"/>
              <a:buFont typeface="Noto Sans Symbols"/>
              <a:buChar char="∙"/>
            </a:pPr>
            <a:r>
              <a:rPr b="0" i="0" lang="en-IN" sz="1800" u="none" cap="none" strike="noStrike">
                <a:solidFill>
                  <a:schemeClr val="dk1"/>
                </a:solidFill>
                <a:latin typeface="Lustria"/>
                <a:ea typeface="Lustria"/>
                <a:cs typeface="Lustria"/>
                <a:sym typeface="Lustria"/>
              </a:rPr>
              <a:t>so these were the columns in my opinion which wouldn’t add on or remove important factors which could affect movie’s success or failure</a:t>
            </a:r>
            <a:endParaRPr b="0" i="0" sz="1800" u="none" cap="none" strike="noStrike">
              <a:solidFill>
                <a:schemeClr val="dk1"/>
              </a:solidFill>
              <a:latin typeface="Arial"/>
              <a:ea typeface="Arial"/>
              <a:cs typeface="Arial"/>
              <a:sym typeface="Arial"/>
            </a:endParaRPr>
          </a:p>
          <a:p>
            <a:pPr indent="-241300" lvl="0" marL="342900" marR="0" rtl="0" algn="l">
              <a:lnSpc>
                <a:spcPct val="115000"/>
              </a:lnSpc>
              <a:spcBef>
                <a:spcPts val="800"/>
              </a:spcBef>
              <a:spcAft>
                <a:spcPts val="0"/>
              </a:spcAft>
              <a:buClr>
                <a:schemeClr val="dk1"/>
              </a:buClr>
              <a:buSzPts val="1600"/>
              <a:buFont typeface="Noto Sans Symbols"/>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5"/>
          <p:cNvSpPr txBox="1"/>
          <p:nvPr/>
        </p:nvSpPr>
        <p:spPr>
          <a:xfrm>
            <a:off x="796413" y="757084"/>
            <a:ext cx="10500852" cy="438632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IN" sz="1800" u="none" cap="none" strike="noStrike">
                <a:solidFill>
                  <a:schemeClr val="dk1"/>
                </a:solidFill>
                <a:latin typeface="Lustria"/>
                <a:ea typeface="Lustria"/>
                <a:cs typeface="Lustria"/>
                <a:sym typeface="Lustria"/>
              </a:rPr>
              <a:t>with the following I’ve also cleared out blank cells as well as duplicate cells so that I wouldn’t have any problem while analysing data </a:t>
            </a:r>
            <a:endParaRPr b="0" i="0" sz="1800" u="none" cap="none" strike="noStrike">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800"/>
              <a:buFont typeface="Noto Sans Symbols"/>
              <a:buChar char="∙"/>
            </a:pPr>
            <a:r>
              <a:rPr b="0" i="0" lang="en-IN" sz="1800" u="none" cap="none" strike="noStrike">
                <a:solidFill>
                  <a:schemeClr val="dk1"/>
                </a:solidFill>
                <a:latin typeface="Lustria"/>
                <a:ea typeface="Lustria"/>
                <a:cs typeface="Lustria"/>
                <a:sym typeface="Lustria"/>
              </a:rPr>
              <a:t>Removing blank cells is very convenient all we have to do is click ctrl+A and then click find &amp; select, go to special then select blanks it highlights blanks either click ctrl+- or directly in home tab we have delete cells option that’s it </a:t>
            </a:r>
            <a:endParaRPr b="0" i="0" sz="18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b="0" i="0" lang="en-IN" sz="1800" u="none" cap="none" strike="noStrike">
                <a:solidFill>
                  <a:schemeClr val="dk1"/>
                </a:solidFill>
                <a:latin typeface="Lustria"/>
                <a:ea typeface="Lustria"/>
                <a:cs typeface="Lustria"/>
                <a:sym typeface="Lustria"/>
              </a:rPr>
              <a:t>And to remove duplicates, we have very easily accessible Data tab in which we have tool called remove duplicates we can select ctrl+A, go to data click remove duplicates </a:t>
            </a:r>
            <a:endParaRPr b="0" i="0" sz="1800" u="none" cap="none" strike="noStrike">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b="0" i="0" lang="en-IN" sz="1800" u="none" cap="none" strike="noStrike">
                <a:solidFill>
                  <a:schemeClr val="dk1"/>
                </a:solidFill>
                <a:latin typeface="Lustria"/>
                <a:ea typeface="Lustria"/>
                <a:cs typeface="Lustria"/>
                <a:sym typeface="Lustria"/>
              </a:rPr>
              <a:t>There’s a extra letter Â I replaced it with space</a:t>
            </a:r>
            <a:endParaRPr/>
          </a:p>
          <a:p>
            <a:pPr indent="-228600" lvl="0" marL="342900" marR="0" rtl="0" algn="l">
              <a:lnSpc>
                <a:spcPct val="115000"/>
              </a:lnSpc>
              <a:spcBef>
                <a:spcPts val="800"/>
              </a:spcBef>
              <a:spcAft>
                <a:spcPts val="0"/>
              </a:spcAft>
              <a:buClr>
                <a:schemeClr val="dk1"/>
              </a:buClr>
              <a:buSzPts val="1800"/>
              <a:buFont typeface="Noto Sans Symbols"/>
              <a:buNone/>
            </a:pPr>
            <a:r>
              <a:t/>
            </a:r>
            <a:endParaRPr b="0" i="0" sz="1800" u="none" cap="none" strike="noStrike">
              <a:solidFill>
                <a:schemeClr val="dk1"/>
              </a:solidFill>
              <a:latin typeface="Lustria"/>
              <a:ea typeface="Lustria"/>
              <a:cs typeface="Lustria"/>
              <a:sym typeface="Lustria"/>
            </a:endParaRPr>
          </a:p>
          <a:p>
            <a:pPr indent="-228600" lvl="0" marL="342900" marR="0" rtl="0" algn="l">
              <a:lnSpc>
                <a:spcPct val="115000"/>
              </a:lnSpc>
              <a:spcBef>
                <a:spcPts val="800"/>
              </a:spcBef>
              <a:spcAft>
                <a:spcPts val="0"/>
              </a:spcAft>
              <a:buClr>
                <a:schemeClr val="dk1"/>
              </a:buClr>
              <a:buSzPts val="1800"/>
              <a:buFont typeface="Noto Sans Symbols"/>
              <a:buNone/>
            </a:pPr>
            <a:r>
              <a:t/>
            </a:r>
            <a:endParaRPr b="0" i="0" sz="1800" u="none" cap="none" strike="noStrike">
              <a:solidFill>
                <a:schemeClr val="dk1"/>
              </a:solidFill>
              <a:latin typeface="Lustria"/>
              <a:ea typeface="Lustria"/>
              <a:cs typeface="Lustria"/>
              <a:sym typeface="Lustria"/>
            </a:endParaRPr>
          </a:p>
          <a:p>
            <a:pPr indent="0" lvl="0" marL="0" marR="0" rtl="0" algn="l">
              <a:lnSpc>
                <a:spcPct val="115000"/>
              </a:lnSpc>
              <a:spcBef>
                <a:spcPts val="800"/>
              </a:spcBef>
              <a:spcAft>
                <a:spcPts val="0"/>
              </a:spcAft>
              <a:buNone/>
            </a:pPr>
            <a:r>
              <a:rPr b="0" i="0" lang="en-IN" sz="1800" u="none" cap="none" strike="noStrike">
                <a:solidFill>
                  <a:schemeClr val="dk1"/>
                </a:solidFill>
                <a:latin typeface="Arial"/>
                <a:ea typeface="Arial"/>
                <a:cs typeface="Arial"/>
                <a:sym typeface="Arial"/>
              </a:rPr>
              <a:t>                                                                                </a:t>
            </a:r>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pic>
        <p:nvPicPr>
          <p:cNvPr id="152" name="Google Shape;152;p5"/>
          <p:cNvPicPr preferRelativeResize="0"/>
          <p:nvPr/>
        </p:nvPicPr>
        <p:blipFill rotWithShape="1">
          <a:blip r:embed="rId3">
            <a:alphaModFix/>
          </a:blip>
          <a:srcRect b="3225" l="29774" r="22380" t="4731"/>
          <a:stretch/>
        </p:blipFill>
        <p:spPr>
          <a:xfrm>
            <a:off x="1296011" y="3473156"/>
            <a:ext cx="2341926" cy="2942303"/>
          </a:xfrm>
          <a:prstGeom prst="rect">
            <a:avLst/>
          </a:prstGeom>
          <a:noFill/>
          <a:ln>
            <a:noFill/>
          </a:ln>
        </p:spPr>
      </p:pic>
      <p:pic>
        <p:nvPicPr>
          <p:cNvPr id="153" name="Google Shape;153;p5"/>
          <p:cNvPicPr preferRelativeResize="0"/>
          <p:nvPr/>
        </p:nvPicPr>
        <p:blipFill rotWithShape="1">
          <a:blip r:embed="rId4">
            <a:alphaModFix/>
          </a:blip>
          <a:srcRect b="0" l="0" r="0" t="0"/>
          <a:stretch/>
        </p:blipFill>
        <p:spPr>
          <a:xfrm>
            <a:off x="7670968" y="3441740"/>
            <a:ext cx="2357935" cy="30051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txBox="1"/>
          <p:nvPr/>
        </p:nvSpPr>
        <p:spPr>
          <a:xfrm>
            <a:off x="845574" y="845574"/>
            <a:ext cx="10068232" cy="5126019"/>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IN" sz="1800">
                <a:solidFill>
                  <a:schemeClr val="dk1"/>
                </a:solidFill>
                <a:latin typeface="Cambria Math"/>
                <a:ea typeface="Cambria Math"/>
                <a:cs typeface="Cambria Math"/>
                <a:sym typeface="Cambria Math"/>
              </a:rPr>
              <a:t>PROJECT APPROACH</a:t>
            </a:r>
            <a:endParaRPr sz="1800">
              <a:solidFill>
                <a:schemeClr val="dk1"/>
              </a:solidFill>
              <a:latin typeface="Arial"/>
              <a:ea typeface="Arial"/>
              <a:cs typeface="Arial"/>
              <a:sym typeface="Arial"/>
            </a:endParaRPr>
          </a:p>
          <a:p>
            <a:pPr indent="0" lvl="0" marL="0" marR="0" rtl="0" algn="ctr">
              <a:lnSpc>
                <a:spcPct val="115000"/>
              </a:lnSpc>
              <a:spcBef>
                <a:spcPts val="800"/>
              </a:spcBef>
              <a:spcAft>
                <a:spcPts val="0"/>
              </a:spcAft>
              <a:buNone/>
            </a:pPr>
            <a:r>
              <a:rPr lang="en-IN" sz="1800">
                <a:solidFill>
                  <a:schemeClr val="dk1"/>
                </a:solidFill>
                <a:latin typeface="Lustria"/>
                <a:ea typeface="Lustria"/>
                <a:cs typeface="Lustria"/>
                <a:sym typeface="Lustria"/>
              </a:rPr>
              <a:t> As a data analyst, my approach for this specific task was, Firstly I’ve downloaded the dataset and made it very optimum so that it couldn’t make complications while doing tasks and then I went on cleaning the dataset as mentioned above </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Then using excel I performed analysis on the data accordingly, As a analyst it’s very crucial thing to clean and prepare data so that data is structured, accurate, and ready for analysis.it involved removing blank cells, duplicate values, detecting &amp; handling outliers, and also feature engineering </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And as given tasks mentioned we need to do some descriptive Statistics using different excel functions so that it enhances our statistical skills as well as excel skills </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We also used various visualization tools to represent solution creatively and explaining it through different charts and graphs makes us understand very easily as well as it summarizes our data </a:t>
            </a:r>
            <a:endParaRPr sz="1800">
              <a:solidFill>
                <a:schemeClr val="dk1"/>
              </a:solidFill>
              <a:latin typeface="Arial"/>
              <a:ea typeface="Arial"/>
              <a:cs typeface="Arial"/>
              <a:sym typeface="Arial"/>
            </a:endParaRPr>
          </a:p>
          <a:p>
            <a:pPr indent="0" lvl="0" marL="0" marR="0" rtl="0" algn="l">
              <a:spcBef>
                <a:spcPts val="800"/>
              </a:spcBef>
              <a:spcAft>
                <a:spcPts val="0"/>
              </a:spcAft>
              <a:buNone/>
            </a:pPr>
            <a:r>
              <a:rPr lang="en-IN" sz="1800">
                <a:solidFill>
                  <a:schemeClr val="dk1"/>
                </a:solidFill>
                <a:latin typeface="Lustria"/>
                <a:ea typeface="Lustria"/>
                <a:cs typeface="Lustria"/>
                <a:sym typeface="Lustria"/>
              </a:rPr>
              <a:t>As mentioned in the project description here we have a great understanding of what we are going to do with the IMDB movie analysis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nvSpPr>
        <p:spPr>
          <a:xfrm>
            <a:off x="678426" y="698090"/>
            <a:ext cx="10756490" cy="563898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IN" sz="1800">
                <a:solidFill>
                  <a:schemeClr val="dk1"/>
                </a:solidFill>
                <a:latin typeface="Lustria"/>
                <a:ea typeface="Lustria"/>
                <a:cs typeface="Lustria"/>
                <a:sym typeface="Lustria"/>
              </a:rPr>
              <a:t>Five 'Whys' Approach</a:t>
            </a:r>
            <a:r>
              <a:rPr lang="en-IN" sz="1800">
                <a:solidFill>
                  <a:schemeClr val="dk1"/>
                </a:solidFill>
                <a:latin typeface="Lustria"/>
                <a:ea typeface="Lustria"/>
                <a:cs typeface="Lustria"/>
                <a:sym typeface="Lustria"/>
              </a:rPr>
              <a:t>: This technique will help you dig deeper into the problem. For instance, if you find that movies with higher budgets tend to have higher ratings, you can ask "Why?" repeatedly to uncover the root cause. Here's an example:</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Q: "Why do movies with higher budgets tend to have higher ratings?"</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A: They can afford better production quality.</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Q: "Why does better production quality lead to higher ratings?"</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A: It enhances the viewer's experience.</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Q: "Why does an enhanced viewer experience lead to higher ratings?"</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A: Viewers are more likely to rate a movie highly if they enjoyed watching it.</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Q: "Why are viewers more likely to rate a movie highly if they enjoyed watching it?"</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A: Positive experiences lead to positive reviews.</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Q: "Why do positive reviews matter?"</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000"/>
              <a:buFont typeface="Noto Sans Symbols"/>
              <a:buChar char="∙"/>
            </a:pPr>
            <a:r>
              <a:rPr lang="en-IN" sz="1800">
                <a:solidFill>
                  <a:schemeClr val="dk1"/>
                </a:solidFill>
                <a:latin typeface="Lustria"/>
                <a:ea typeface="Lustria"/>
                <a:cs typeface="Lustria"/>
                <a:sym typeface="Lustria"/>
              </a:rPr>
              <a:t>A: They influence other viewers' decisions to watch the movie, increasing its popularity and success.</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nvSpPr>
        <p:spPr>
          <a:xfrm>
            <a:off x="658761" y="609600"/>
            <a:ext cx="10668000" cy="6195029"/>
          </a:xfrm>
          <a:prstGeom prst="rect">
            <a:avLst/>
          </a:prstGeom>
          <a:noFill/>
          <a:ln>
            <a:noFill/>
          </a:ln>
        </p:spPr>
        <p:txBody>
          <a:bodyPr anchorCtr="0" anchor="t" bIns="45700" lIns="91425" spcFirstLastPara="1" rIns="91425" wrap="square" tIns="45700">
            <a:spAutoFit/>
          </a:bodyPr>
          <a:lstStyle/>
          <a:p>
            <a:pPr indent="0" lvl="0" marL="228600" marR="0" rtl="0" algn="l">
              <a:lnSpc>
                <a:spcPct val="115000"/>
              </a:lnSpc>
              <a:spcBef>
                <a:spcPts val="0"/>
              </a:spcBef>
              <a:spcAft>
                <a:spcPts val="0"/>
              </a:spcAft>
              <a:buNone/>
            </a:pPr>
            <a:r>
              <a:rPr lang="en-IN" sz="1800">
                <a:solidFill>
                  <a:schemeClr val="dk1"/>
                </a:solidFill>
                <a:latin typeface="Lustria"/>
                <a:ea typeface="Lustria"/>
                <a:cs typeface="Lustria"/>
                <a:sym typeface="Lustria"/>
              </a:rPr>
              <a:t>Through this we have done root cause analysis as it can provide new revelations, insights, recommendations as well as different approaches to change accordingly for a better outcome as it is very important to see through viewer’s perspective</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In general, movies work well with different factors </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If the Hero/Heroine has huge fan following, film works even the storyline is great or not</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Hero’s/Heroine’s from film backgrounds also make film work better, through legacy their family or known has, have or had </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Film promotions do lot of work in movie’s success</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Reputed and established directors also play a major role in movie’s success</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Movie budgeting makes a huge difference cause a great storyline with less budget and production wouldn’t reach those heights as of others</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Movie Critics do work differently because they provide their own perspectives, recommendations, opinions accordingly which makes people indecisive about a movie</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IMDB scores also make a difference </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For New comers, people would have skeptical opinions </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And the list goes on, this gives us deep analysis towards movies about how each and every factor makes a hit or pass</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nvSpPr>
        <p:spPr>
          <a:xfrm>
            <a:off x="717755" y="816077"/>
            <a:ext cx="10854813" cy="2269852"/>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IN" sz="1800">
                <a:solidFill>
                  <a:schemeClr val="dk1"/>
                </a:solidFill>
                <a:latin typeface="Cambria Math"/>
                <a:ea typeface="Cambria Math"/>
                <a:cs typeface="Cambria Math"/>
                <a:sym typeface="Cambria Math"/>
              </a:rPr>
              <a:t>TECH STACK USED</a:t>
            </a:r>
            <a:endParaRPr sz="1800">
              <a:solidFill>
                <a:schemeClr val="dk1"/>
              </a:solidFill>
              <a:latin typeface="Arial"/>
              <a:ea typeface="Arial"/>
              <a:cs typeface="Arial"/>
              <a:sym typeface="Arial"/>
            </a:endParaRPr>
          </a:p>
          <a:p>
            <a:pPr indent="0" lvl="0" marL="0" marR="0" rtl="0" algn="ctr">
              <a:lnSpc>
                <a:spcPct val="115000"/>
              </a:lnSpc>
              <a:spcBef>
                <a:spcPts val="800"/>
              </a:spcBef>
              <a:spcAft>
                <a:spcPts val="0"/>
              </a:spcAft>
              <a:buNone/>
            </a:pPr>
            <a:r>
              <a:rPr lang="en-IN" sz="1800">
                <a:solidFill>
                  <a:schemeClr val="dk1"/>
                </a:solidFill>
                <a:latin typeface="Lustria"/>
                <a:ea typeface="Lustria"/>
                <a:cs typeface="Lustria"/>
                <a:sym typeface="Lustria"/>
              </a:rPr>
              <a:t>For this project ,I’ve used Microsoft excel for Data cleaning, preparing, analysing ,visualizing, manipulating etc……….</a:t>
            </a:r>
            <a:endParaRPr sz="1800">
              <a:solidFill>
                <a:schemeClr val="dk1"/>
              </a:solidFill>
              <a:latin typeface="Arial"/>
              <a:ea typeface="Arial"/>
              <a:cs typeface="Arial"/>
              <a:sym typeface="Arial"/>
            </a:endParaRPr>
          </a:p>
          <a:p>
            <a:pPr indent="0" lvl="0" marL="0" marR="0" rtl="0" algn="ctr">
              <a:lnSpc>
                <a:spcPct val="115000"/>
              </a:lnSpc>
              <a:spcBef>
                <a:spcPts val="800"/>
              </a:spcBef>
              <a:spcAft>
                <a:spcPts val="0"/>
              </a:spcAft>
              <a:buNone/>
            </a:pPr>
            <a:r>
              <a:rPr lang="en-IN" sz="1800">
                <a:solidFill>
                  <a:schemeClr val="dk1"/>
                </a:solidFill>
                <a:latin typeface="Lustria"/>
                <a:ea typeface="Lustria"/>
                <a:cs typeface="Lustria"/>
                <a:sym typeface="Lustria"/>
              </a:rPr>
              <a:t>Used ribbon layout(Home, Insert, Formulas, Data, Review, View, Help) the most as it is very crucial, used pivot table, various formula’s &amp; functions ,visualization tools &amp; Statistical Analysis etc..</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nvSpPr>
        <p:spPr>
          <a:xfrm>
            <a:off x="668600" y="545224"/>
            <a:ext cx="10687800" cy="61857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b="1" lang="en-IN" sz="1800">
                <a:solidFill>
                  <a:schemeClr val="dk1"/>
                </a:solidFill>
                <a:latin typeface="Cambria Math"/>
                <a:ea typeface="Cambria Math"/>
                <a:cs typeface="Cambria Math"/>
                <a:sym typeface="Cambria Math"/>
              </a:rPr>
              <a:t>Insights</a:t>
            </a:r>
            <a:endParaRPr sz="1800">
              <a:solidFill>
                <a:schemeClr val="dk1"/>
              </a:solidFill>
              <a:latin typeface="Arial"/>
              <a:ea typeface="Arial"/>
              <a:cs typeface="Arial"/>
              <a:sym typeface="Arial"/>
            </a:endParaRPr>
          </a:p>
          <a:p>
            <a:pPr indent="0" lvl="0" marL="0" marR="0" rtl="0" algn="ctr">
              <a:lnSpc>
                <a:spcPct val="115000"/>
              </a:lnSpc>
              <a:spcBef>
                <a:spcPts val="800"/>
              </a:spcBef>
              <a:spcAft>
                <a:spcPts val="0"/>
              </a:spcAft>
              <a:buNone/>
            </a:pPr>
            <a:r>
              <a:rPr lang="en-IN" sz="1800">
                <a:solidFill>
                  <a:schemeClr val="dk1"/>
                </a:solidFill>
                <a:latin typeface="Lustria"/>
                <a:ea typeface="Lustria"/>
                <a:cs typeface="Lustria"/>
                <a:sym typeface="Lustria"/>
              </a:rPr>
              <a:t>Here’s the thing, I’ve written insight for each &amp; every task as I can’t summarize all the insights into one cause every task has its own various insights patterns &amp; summaries</a:t>
            </a:r>
            <a:endParaRPr sz="1800">
              <a:solidFill>
                <a:schemeClr val="dk1"/>
              </a:solidFill>
              <a:latin typeface="Arial"/>
              <a:ea typeface="Arial"/>
              <a:cs typeface="Arial"/>
              <a:sym typeface="Arial"/>
            </a:endParaRPr>
          </a:p>
          <a:p>
            <a:pPr indent="0" lvl="0" marL="0" marR="0" rtl="0" algn="ctr">
              <a:lnSpc>
                <a:spcPct val="115000"/>
              </a:lnSpc>
              <a:spcBef>
                <a:spcPts val="800"/>
              </a:spcBef>
              <a:spcAft>
                <a:spcPts val="0"/>
              </a:spcAft>
              <a:buNone/>
            </a:pPr>
            <a:r>
              <a:rPr lang="en-IN" sz="1800">
                <a:solidFill>
                  <a:schemeClr val="dk1"/>
                </a:solidFill>
                <a:latin typeface="Lustria"/>
                <a:ea typeface="Lustria"/>
                <a:cs typeface="Lustria"/>
                <a:sym typeface="Lustria"/>
              </a:rPr>
              <a:t>A. </a:t>
            </a:r>
            <a:r>
              <a:rPr b="1" lang="en-IN" sz="1800">
                <a:solidFill>
                  <a:schemeClr val="dk1"/>
                </a:solidFill>
                <a:latin typeface="Lustria"/>
                <a:ea typeface="Lustria"/>
                <a:cs typeface="Lustria"/>
                <a:sym typeface="Lustria"/>
              </a:rPr>
              <a:t>Movie Genre Analysis:</a:t>
            </a:r>
            <a:r>
              <a:rPr lang="en-IN" sz="1800">
                <a:solidFill>
                  <a:schemeClr val="dk1"/>
                </a:solidFill>
                <a:latin typeface="Lustria"/>
                <a:ea typeface="Lustria"/>
                <a:cs typeface="Lustria"/>
                <a:sym typeface="Lustria"/>
              </a:rPr>
              <a:t> Analyse the distribution of movie genres and their impact on the IMDB score.</a:t>
            </a:r>
            <a:endParaRPr sz="1800">
              <a:solidFill>
                <a:schemeClr val="dk1"/>
              </a:solidFill>
              <a:latin typeface="Arial"/>
              <a:ea typeface="Arial"/>
              <a:cs typeface="Arial"/>
              <a:sym typeface="Arial"/>
            </a:endParaRPr>
          </a:p>
          <a:p>
            <a:pPr indent="0" lvl="0" marL="228600" marR="0" rtl="0" algn="ctr">
              <a:lnSpc>
                <a:spcPct val="115000"/>
              </a:lnSpc>
              <a:spcBef>
                <a:spcPts val="800"/>
              </a:spcBef>
              <a:spcAft>
                <a:spcPts val="0"/>
              </a:spcAft>
              <a:buNone/>
            </a:pPr>
            <a:r>
              <a:rPr b="1" lang="en-IN" sz="1800">
                <a:solidFill>
                  <a:schemeClr val="dk1"/>
                </a:solidFill>
                <a:latin typeface="Lustria"/>
                <a:ea typeface="Lustria"/>
                <a:cs typeface="Lustria"/>
                <a:sym typeface="Lustria"/>
              </a:rPr>
              <a:t>Task:</a:t>
            </a:r>
            <a:r>
              <a:rPr lang="en-IN" sz="1800">
                <a:solidFill>
                  <a:schemeClr val="dk1"/>
                </a:solidFill>
                <a:latin typeface="Lustria"/>
                <a:ea typeface="Lustria"/>
                <a:cs typeface="Lustria"/>
                <a:sym typeface="Lustria"/>
              </a:rPr>
              <a:t> Determine the most common genres of movies in the dataset. Then, for each genre, calculate descriptive statistics (mean, median, mode, range, variance, standard deviation) of the IMDB scores.</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 Insights:</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As I presented my excel sheet where u could go through each &amp; every process </a:t>
            </a:r>
            <a:endParaRPr sz="1800">
              <a:solidFill>
                <a:schemeClr val="dk1"/>
              </a:solidFill>
              <a:latin typeface="Arial"/>
              <a:ea typeface="Arial"/>
              <a:cs typeface="Arial"/>
              <a:sym typeface="Arial"/>
            </a:endParaRPr>
          </a:p>
          <a:p>
            <a:pPr indent="-342900" lvl="0" marL="342900" marR="0" rtl="0" algn="l">
              <a:lnSpc>
                <a:spcPct val="115000"/>
              </a:lnSpc>
              <a:spcBef>
                <a:spcPts val="80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As mentioned, to separate genres, select genre column and select the data tab in which select from table/range, it’ll redirect to power query editor in which we need to select split column by delimiter then split at each occurrence of the delimiter advance option split into rows then ok we get it as</a:t>
            </a:r>
            <a:endParaRPr sz="1800">
              <a:solidFill>
                <a:schemeClr val="dk1"/>
              </a:solidFill>
              <a:latin typeface="Arial"/>
              <a:ea typeface="Arial"/>
              <a:cs typeface="Arial"/>
              <a:sym typeface="Arial"/>
            </a:endParaRPr>
          </a:p>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And next I’ve filtered out all the genres, and with the help of countif  function I did count of genres (=COUNTIF(B:B,"*" &amp; E2 &amp; "*")</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nvSpPr>
        <p:spPr>
          <a:xfrm>
            <a:off x="717750" y="403250"/>
            <a:ext cx="10697400" cy="64191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5000"/>
              </a:lnSpc>
              <a:spcBef>
                <a:spcPts val="0"/>
              </a:spcBef>
              <a:spcAft>
                <a:spcPts val="0"/>
              </a:spcAft>
              <a:buClr>
                <a:schemeClr val="dk1"/>
              </a:buClr>
              <a:buSzPts val="1800"/>
              <a:buFont typeface="Noto Sans Symbols"/>
              <a:buChar char="∙"/>
            </a:pPr>
            <a:r>
              <a:rPr lang="en-IN" sz="1800">
                <a:solidFill>
                  <a:schemeClr val="dk1"/>
                </a:solidFill>
                <a:latin typeface="Lustria"/>
                <a:ea typeface="Lustria"/>
                <a:cs typeface="Lustria"/>
                <a:sym typeface="Lustria"/>
              </a:rPr>
              <a:t>And as it was mentioned to do descriptive statistics for each &amp; every genre, I did took out the mean, median, mode, max, min , variance, standard deviation.</a:t>
            </a:r>
            <a:endParaRPr sz="1800">
              <a:solidFill>
                <a:schemeClr val="dk1"/>
              </a:solidFill>
              <a:latin typeface="Arial"/>
              <a:ea typeface="Arial"/>
              <a:cs typeface="Arial"/>
              <a:sym typeface="Arial"/>
            </a:endParaRPr>
          </a:p>
          <a:p>
            <a:pPr indent="0" lvl="0" marL="4572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Mean: </a:t>
            </a:r>
            <a:r>
              <a:rPr lang="en-IN" sz="1800">
                <a:solidFill>
                  <a:schemeClr val="dk1"/>
                </a:solidFill>
                <a:latin typeface="Arial"/>
                <a:ea typeface="Arial"/>
                <a:cs typeface="Arial"/>
                <a:sym typeface="Arial"/>
              </a:rPr>
              <a:t>=</a:t>
            </a:r>
            <a:r>
              <a:rPr lang="en-IN" sz="1800">
                <a:solidFill>
                  <a:schemeClr val="dk1"/>
                </a:solidFill>
                <a:latin typeface="Lustria"/>
                <a:ea typeface="Lustria"/>
                <a:cs typeface="Lustria"/>
                <a:sym typeface="Lustria"/>
              </a:rPr>
              <a:t>AVERAGEIF (B: B,"*" &amp; E2 &amp; "*”, A: A)</a:t>
            </a:r>
            <a:endParaRPr sz="1800">
              <a:solidFill>
                <a:schemeClr val="dk1"/>
              </a:solidFill>
              <a:latin typeface="Arial"/>
              <a:ea typeface="Arial"/>
              <a:cs typeface="Arial"/>
              <a:sym typeface="Arial"/>
            </a:endParaRPr>
          </a:p>
          <a:p>
            <a:pPr indent="0" lvl="0" marL="4572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Median: =MEDIAN(IF(ISNUMBER(SEARCH("*"&amp;Table1[@GENRES]&amp;"*",B:B)),A:A))</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   Mode: =MODE(IF(ISNUMBER(SEARCH("*"&amp;Table1[@GENRES]&amp;"*",B:B)),A:A))</a:t>
            </a:r>
            <a:endParaRPr sz="1800">
              <a:solidFill>
                <a:schemeClr val="dk1"/>
              </a:solidFill>
              <a:latin typeface="Arial"/>
              <a:ea typeface="Arial"/>
              <a:cs typeface="Arial"/>
              <a:sym typeface="Arial"/>
            </a:endParaRPr>
          </a:p>
          <a:p>
            <a:pPr indent="0" lvl="0" marL="4572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Max: =MAXIFS(A:A,B:B,"*" &amp; E2 &amp; "*")</a:t>
            </a:r>
            <a:endParaRPr sz="1800">
              <a:solidFill>
                <a:schemeClr val="dk1"/>
              </a:solidFill>
              <a:latin typeface="Arial"/>
              <a:ea typeface="Arial"/>
              <a:cs typeface="Arial"/>
              <a:sym typeface="Arial"/>
            </a:endParaRPr>
          </a:p>
          <a:p>
            <a:pPr indent="0" lvl="0" marL="4572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Min: =MINIFS(A:A,B:B,"*" &amp; E2 &amp; "*")</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  Variance: =VAR(IF(ISNUMBER(SEARCH("*"&amp;Table1[@GENRES]&amp;"*",B:B)),A:A))</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Standard deviation: =STDEV(IF(ISNUMBER(SEARCH("*"&amp;Table1[@GENRES]&amp;"*",B:B)),A:A))</a:t>
            </a:r>
            <a:endParaRPr/>
          </a:p>
          <a:p>
            <a:pPr indent="-285750" lvl="0" marL="285750" marR="0" rtl="0" algn="l">
              <a:lnSpc>
                <a:spcPct val="115000"/>
              </a:lnSpc>
              <a:spcBef>
                <a:spcPts val="800"/>
              </a:spcBef>
              <a:spcAft>
                <a:spcPts val="0"/>
              </a:spcAft>
              <a:buClr>
                <a:schemeClr val="dk1"/>
              </a:buClr>
              <a:buSzPts val="2520"/>
              <a:buFont typeface="Arial"/>
              <a:buChar char="•"/>
            </a:pPr>
            <a:r>
              <a:rPr lang="en-IN" sz="1800">
                <a:solidFill>
                  <a:schemeClr val="dk1"/>
                </a:solidFill>
                <a:latin typeface="Lustria"/>
                <a:ea typeface="Lustria"/>
                <a:cs typeface="Lustria"/>
                <a:sym typeface="Lustria"/>
              </a:rPr>
              <a:t> Identified top 5 genres from the genre table</a:t>
            </a:r>
            <a:endParaRPr sz="1800">
              <a:solidFill>
                <a:schemeClr val="dk1"/>
              </a:solidFill>
              <a:latin typeface="Arial"/>
              <a:ea typeface="Arial"/>
              <a:cs typeface="Arial"/>
              <a:sym typeface="Arial"/>
            </a:endParaRPr>
          </a:p>
          <a:p>
            <a:pPr indent="-285750" lvl="0" marL="285750" marR="0" rtl="0" algn="l">
              <a:lnSpc>
                <a:spcPct val="115000"/>
              </a:lnSpc>
              <a:spcBef>
                <a:spcPts val="800"/>
              </a:spcBef>
              <a:spcAft>
                <a:spcPts val="0"/>
              </a:spcAft>
              <a:buClr>
                <a:schemeClr val="dk1"/>
              </a:buClr>
              <a:buSzPts val="2520"/>
              <a:buFont typeface="Arial"/>
              <a:buChar char="•"/>
            </a:pPr>
            <a:r>
              <a:rPr lang="en-IN" sz="1800">
                <a:solidFill>
                  <a:schemeClr val="dk1"/>
                </a:solidFill>
                <a:latin typeface="Lustria"/>
                <a:ea typeface="Lustria"/>
                <a:cs typeface="Lustria"/>
                <a:sym typeface="Lustria"/>
              </a:rPr>
              <a:t>Also, with the help of genre table used a chart is represented to understand it more precisely</a:t>
            </a:r>
            <a:endParaRPr/>
          </a:p>
          <a:p>
            <a:pPr indent="0" lvl="0" marL="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 Result:</a:t>
            </a:r>
            <a:endParaRPr/>
          </a:p>
          <a:p>
            <a:pPr indent="0" lvl="0" marL="0" marR="0" rtl="0" algn="l">
              <a:lnSpc>
                <a:spcPct val="115000"/>
              </a:lnSpc>
              <a:spcBef>
                <a:spcPts val="800"/>
              </a:spcBef>
              <a:spcAft>
                <a:spcPts val="0"/>
              </a:spcAft>
              <a:buNone/>
            </a:pPr>
            <a:r>
              <a:t/>
            </a:r>
            <a:endParaRPr sz="1800">
              <a:solidFill>
                <a:schemeClr val="dk1"/>
              </a:solidFill>
              <a:latin typeface="Lustria"/>
              <a:ea typeface="Lustria"/>
              <a:cs typeface="Lustria"/>
              <a:sym typeface="Lustria"/>
            </a:endParaRPr>
          </a:p>
          <a:p>
            <a:pPr indent="0" lvl="0" marL="0" marR="0" rtl="0" algn="l">
              <a:lnSpc>
                <a:spcPct val="115000"/>
              </a:lnSpc>
              <a:spcBef>
                <a:spcPts val="800"/>
              </a:spcBef>
              <a:spcAft>
                <a:spcPts val="0"/>
              </a:spcAft>
              <a:buNone/>
            </a:pPr>
            <a:r>
              <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
        <p:nvSpPr>
          <p:cNvPr id="184" name="Google Shape;184;p11"/>
          <p:cNvSpPr/>
          <p:nvPr/>
        </p:nvSpPr>
        <p:spPr>
          <a:xfrm>
            <a:off x="-717755" y="396943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185" name="Google Shape;185;p11"/>
          <p:cNvGraphicFramePr/>
          <p:nvPr/>
        </p:nvGraphicFramePr>
        <p:xfrm>
          <a:off x="544128" y="5526746"/>
          <a:ext cx="1381978" cy="892623"/>
        </p:xfrm>
        <a:graphic>
          <a:graphicData uri="http://schemas.openxmlformats.org/presentationml/2006/ole">
            <mc:AlternateContent>
              <mc:Choice Requires="v">
                <p:oleObj r:id="rId4" imgH="892623" imgW="1381978" progId="Excel.Sheet.12" spid="_x0000_s1">
                  <p:embed/>
                </p:oleObj>
              </mc:Choice>
              <mc:Fallback>
                <p:oleObj r:id="rId5" imgH="892623" imgW="1381978" progId="Excel.Sheet.12">
                  <p:embed/>
                  <p:pic>
                    <p:nvPicPr>
                      <p:cNvPr id="185" name="Google Shape;185;p11"/>
                      <p:cNvPicPr preferRelativeResize="0"/>
                      <p:nvPr/>
                    </p:nvPicPr>
                    <p:blipFill rotWithShape="1">
                      <a:blip r:embed="rId6">
                        <a:alphaModFix/>
                      </a:blip>
                      <a:srcRect b="0" l="0" r="0" t="0"/>
                      <a:stretch/>
                    </p:blipFill>
                    <p:spPr>
                      <a:xfrm>
                        <a:off x="544128" y="5526746"/>
                        <a:ext cx="1381978" cy="892623"/>
                      </a:xfrm>
                      <a:prstGeom prst="rect">
                        <a:avLst/>
                      </a:prstGeom>
                      <a:noFill/>
                      <a:ln>
                        <a:noFill/>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nvSpPr>
        <p:spPr>
          <a:xfrm>
            <a:off x="428800" y="417450"/>
            <a:ext cx="11401800" cy="6213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IN" sz="1800">
                <a:solidFill>
                  <a:schemeClr val="dk1"/>
                </a:solidFill>
                <a:latin typeface="Lustria"/>
                <a:ea typeface="Lustria"/>
                <a:cs typeface="Lustria"/>
                <a:sym typeface="Lustria"/>
              </a:rPr>
              <a:t>B. Movie Duration Analysis: </a:t>
            </a:r>
            <a:r>
              <a:rPr lang="en-IN" sz="1800">
                <a:solidFill>
                  <a:schemeClr val="dk1"/>
                </a:solidFill>
                <a:latin typeface="Lustria"/>
                <a:ea typeface="Lustria"/>
                <a:cs typeface="Lustria"/>
                <a:sym typeface="Lustria"/>
              </a:rPr>
              <a:t>Analyze the distribution of movie durations and its impact on the IMDB score.</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Task: </a:t>
            </a:r>
            <a:r>
              <a:rPr lang="en-IN" sz="1800">
                <a:solidFill>
                  <a:schemeClr val="dk1"/>
                </a:solidFill>
                <a:latin typeface="Lustria"/>
                <a:ea typeface="Lustria"/>
                <a:cs typeface="Lustria"/>
                <a:sym typeface="Lustria"/>
              </a:rPr>
              <a:t>Analyze the distribution of movie durations and identify the relationship between movie duration and IMDB score.</a:t>
            </a:r>
            <a:endParaRPr sz="1800">
              <a:solidFill>
                <a:schemeClr val="dk1"/>
              </a:solidFill>
              <a:latin typeface="Arial"/>
              <a:ea typeface="Arial"/>
              <a:cs typeface="Arial"/>
              <a:sym typeface="Arial"/>
            </a:endParaRPr>
          </a:p>
          <a:p>
            <a:pPr indent="0" lvl="0" marL="0" marR="0" rtl="0" algn="l">
              <a:lnSpc>
                <a:spcPct val="100000"/>
              </a:lnSpc>
              <a:spcBef>
                <a:spcPts val="800"/>
              </a:spcBef>
              <a:spcAft>
                <a:spcPts val="0"/>
              </a:spcAft>
              <a:buNone/>
            </a:pPr>
            <a:r>
              <a:rPr b="1" lang="en-IN" sz="1800">
                <a:solidFill>
                  <a:schemeClr val="dk1"/>
                </a:solidFill>
                <a:latin typeface="Lustria"/>
                <a:ea typeface="Lustria"/>
                <a:cs typeface="Lustria"/>
                <a:sym typeface="Lustria"/>
              </a:rPr>
              <a:t>Insights:</a:t>
            </a:r>
            <a:endParaRPr sz="1800">
              <a:solidFill>
                <a:schemeClr val="dk1"/>
              </a:solidFill>
            </a:endParaRPr>
          </a:p>
          <a:p>
            <a:pPr indent="0" lvl="0" marL="0" marR="0" rtl="0" algn="l">
              <a:lnSpc>
                <a:spcPct val="100000"/>
              </a:lnSpc>
              <a:spcBef>
                <a:spcPts val="800"/>
              </a:spcBef>
              <a:spcAft>
                <a:spcPts val="0"/>
              </a:spcAft>
              <a:buNone/>
            </a:pPr>
            <a:r>
              <a:rPr lang="en-IN" sz="1800">
                <a:solidFill>
                  <a:schemeClr val="dk1"/>
                </a:solidFill>
                <a:latin typeface="Lustria"/>
                <a:ea typeface="Lustria"/>
                <a:cs typeface="Lustria"/>
                <a:sym typeface="Lustria"/>
              </a:rPr>
              <a:t>In the movie duration analysis I’ve taken out duration and imdb_score  column from the cleaned dataset and I’ve calculate mean median &amp; standard deviation using excel functions for movie duration as mentioned </a:t>
            </a:r>
            <a:endParaRPr sz="1800">
              <a:solidFill>
                <a:schemeClr val="dk1"/>
              </a:solidFill>
              <a:latin typeface="Arial"/>
              <a:ea typeface="Arial"/>
              <a:cs typeface="Arial"/>
              <a:sym typeface="Arial"/>
            </a:endParaRPr>
          </a:p>
          <a:p>
            <a:pPr indent="0" lvl="0" marL="0" marR="0" rtl="0" algn="l">
              <a:lnSpc>
                <a:spcPct val="100000"/>
              </a:lnSpc>
              <a:spcBef>
                <a:spcPts val="800"/>
              </a:spcBef>
              <a:spcAft>
                <a:spcPts val="0"/>
              </a:spcAft>
              <a:buNone/>
            </a:pPr>
            <a:r>
              <a:rPr lang="en-IN" sz="1800">
                <a:solidFill>
                  <a:schemeClr val="dk1"/>
                </a:solidFill>
                <a:latin typeface="Lustria"/>
                <a:ea typeface="Lustria"/>
                <a:cs typeface="Lustria"/>
                <a:sym typeface="Lustria"/>
              </a:rPr>
              <a:t>Mean: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=AVERAGE(A:A)</a:t>
            </a:r>
            <a:endParaRPr sz="1800">
              <a:solidFill>
                <a:schemeClr val="dk1"/>
              </a:solidFill>
              <a:latin typeface="Arial"/>
              <a:ea typeface="Arial"/>
              <a:cs typeface="Arial"/>
              <a:sym typeface="Arial"/>
            </a:endParaRPr>
          </a:p>
          <a:p>
            <a:pPr indent="0" lvl="0" marL="0" marR="0" rtl="0" algn="l">
              <a:lnSpc>
                <a:spcPct val="100000"/>
              </a:lnSpc>
              <a:spcBef>
                <a:spcPts val="800"/>
              </a:spcBef>
              <a:spcAft>
                <a:spcPts val="0"/>
              </a:spcAft>
              <a:buNone/>
            </a:pPr>
            <a:r>
              <a:rPr lang="en-IN" sz="1800">
                <a:solidFill>
                  <a:schemeClr val="dk1"/>
                </a:solidFill>
                <a:latin typeface="Lustria"/>
                <a:ea typeface="Lustria"/>
                <a:cs typeface="Lustria"/>
                <a:sym typeface="Lustria"/>
              </a:rPr>
              <a:t>Median: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=MEDIAN(A:A)</a:t>
            </a:r>
            <a:endParaRPr sz="1800">
              <a:solidFill>
                <a:schemeClr val="dk1"/>
              </a:solidFill>
              <a:latin typeface="Arial"/>
              <a:ea typeface="Arial"/>
              <a:cs typeface="Arial"/>
              <a:sym typeface="Arial"/>
            </a:endParaRPr>
          </a:p>
          <a:p>
            <a:pPr indent="0" lvl="0" marL="0" marR="0" rtl="0" algn="l">
              <a:lnSpc>
                <a:spcPct val="100000"/>
              </a:lnSpc>
              <a:spcBef>
                <a:spcPts val="800"/>
              </a:spcBef>
              <a:spcAft>
                <a:spcPts val="0"/>
              </a:spcAft>
              <a:buNone/>
            </a:pPr>
            <a:r>
              <a:rPr lang="en-IN" sz="1800">
                <a:solidFill>
                  <a:schemeClr val="dk1"/>
                </a:solidFill>
                <a:latin typeface="Lustria"/>
                <a:ea typeface="Lustria"/>
                <a:cs typeface="Lustria"/>
                <a:sym typeface="Lustria"/>
              </a:rPr>
              <a:t>Standard deviation: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=STDEV.S(A:A)</a:t>
            </a:r>
            <a:endParaRPr sz="1800">
              <a:solidFill>
                <a:schemeClr val="dk1"/>
              </a:solidFil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Created a scatter plot to visualize the relationship between movie duration and IMDB score. And also added a trendline to assess the direction and strength of the relationship to create a scatter plot we need to select both the columns and click on insert and then the recommended charts cause it’ll recommend the best chart that suits according to our selection of column then when u get the scatter plot when u double click there’s (+) which is to add a element then select the trendline, it’s to show the general direction (increase, decrease, or constant) of the data. And from scatterplot we got to see it’s a constant relationship so far between movie duration and imdb score</a:t>
            </a:r>
            <a:endParaRPr sz="1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nvSpPr>
        <p:spPr>
          <a:xfrm>
            <a:off x="696779" y="609599"/>
            <a:ext cx="11495221" cy="581338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N" sz="1800">
                <a:solidFill>
                  <a:schemeClr val="dk1"/>
                </a:solidFill>
                <a:latin typeface="Lustria"/>
                <a:ea typeface="Lustria"/>
                <a:cs typeface="Lustria"/>
                <a:sym typeface="Lustria"/>
              </a:rPr>
              <a:t>I’ve attached my Microsoft excel sheet to understand my task more accurately</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Result:</a:t>
            </a:r>
            <a:endParaRPr/>
          </a:p>
          <a:p>
            <a:pPr indent="0" lvl="0" marL="0" marR="0" rtl="0" algn="l">
              <a:lnSpc>
                <a:spcPct val="115000"/>
              </a:lnSpc>
              <a:spcBef>
                <a:spcPts val="800"/>
              </a:spcBef>
              <a:spcAft>
                <a:spcPts val="0"/>
              </a:spcAft>
              <a:buNone/>
            </a:pPr>
            <a:r>
              <a:t/>
            </a:r>
            <a:endParaRPr sz="1800">
              <a:solidFill>
                <a:schemeClr val="dk1"/>
              </a:solidFill>
              <a:latin typeface="Arial"/>
              <a:ea typeface="Arial"/>
              <a:cs typeface="Arial"/>
              <a:sym typeface="Arial"/>
            </a:endParaRPr>
          </a:p>
          <a:p>
            <a:pPr indent="0" lvl="0" marL="0" marR="0" rtl="0" algn="l">
              <a:spcBef>
                <a:spcPts val="800"/>
              </a:spcBef>
              <a:spcAft>
                <a:spcPts val="0"/>
              </a:spcAft>
              <a:buNone/>
            </a:pPr>
            <a:r>
              <a:rPr lang="en-IN" sz="1800">
                <a:solidFill>
                  <a:schemeClr val="dk1"/>
                </a:solidFill>
                <a:latin typeface="Avenir"/>
                <a:ea typeface="Avenir"/>
                <a:cs typeface="Avenir"/>
                <a:sym typeface="Avenir"/>
              </a:rPr>
              <a:t>                  </a:t>
            </a:r>
            <a:endParaRPr/>
          </a:p>
          <a:p>
            <a:pPr indent="0" lvl="0" marL="0" marR="0" rtl="0" algn="l">
              <a:lnSpc>
                <a:spcPct val="115000"/>
              </a:lnSpc>
              <a:spcBef>
                <a:spcPts val="0"/>
              </a:spcBef>
              <a:spcAft>
                <a:spcPts val="0"/>
              </a:spcAft>
              <a:buNone/>
            </a:pPr>
            <a:r>
              <a:rPr b="1" lang="en-IN" sz="1800">
                <a:solidFill>
                  <a:schemeClr val="dk1"/>
                </a:solidFill>
                <a:latin typeface="Lustria"/>
                <a:ea typeface="Lustria"/>
                <a:cs typeface="Lustria"/>
                <a:sym typeface="Lustria"/>
              </a:rPr>
              <a:t>C. Language Analysis: </a:t>
            </a:r>
            <a:r>
              <a:rPr lang="en-IN" sz="1800">
                <a:solidFill>
                  <a:schemeClr val="dk1"/>
                </a:solidFill>
                <a:latin typeface="Lustria"/>
                <a:ea typeface="Lustria"/>
                <a:cs typeface="Lustria"/>
                <a:sym typeface="Lustria"/>
              </a:rPr>
              <a:t>Situation: Examine the distribution of movies based on their language.</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Task:</a:t>
            </a:r>
            <a:r>
              <a:rPr lang="en-IN" sz="1800">
                <a:solidFill>
                  <a:schemeClr val="dk1"/>
                </a:solidFill>
                <a:latin typeface="Lustria"/>
                <a:ea typeface="Lustria"/>
                <a:cs typeface="Lustria"/>
                <a:sym typeface="Lustria"/>
              </a:rPr>
              <a:t> Determine the most common languages used in movies and analyze their impact on the IMDB score using descriptive statistics.</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     Insights: </a:t>
            </a:r>
            <a:r>
              <a:rPr lang="en-IN" sz="1800">
                <a:solidFill>
                  <a:schemeClr val="dk1"/>
                </a:solidFill>
                <a:latin typeface="Lustria"/>
                <a:ea typeface="Lustria"/>
                <a:cs typeface="Lustria"/>
                <a:sym typeface="Lustria"/>
              </a:rPr>
              <a:t>I’ve taken out the language and imdb_score column from a cleaned dataset and filtered out all the languages and did the count of languages with the help of countif function and as well as mentioned to calculated descriptive stastistics of  imdb_score for each genre I did using mean ,median, standard deviation functions</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Count of genres:</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=COUNTIF(C:C,E2)</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Mean: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=AVERAGEIF(C:C,E2,A:A)</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Median: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=MEDIAN(IF(C:C=Table1[@LANGUAGES],A:A))</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
        <p:nvSpPr>
          <p:cNvPr id="196" name="Google Shape;196;p13"/>
          <p:cNvSpPr/>
          <p:nvPr/>
        </p:nvSpPr>
        <p:spPr>
          <a:xfrm>
            <a:off x="-1244177" y="3500283"/>
            <a:ext cx="12934732" cy="6433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197" name="Google Shape;197;p13"/>
          <p:cNvGraphicFramePr/>
          <p:nvPr/>
        </p:nvGraphicFramePr>
        <p:xfrm>
          <a:off x="631491" y="1491232"/>
          <a:ext cx="1362690" cy="845573"/>
        </p:xfrm>
        <a:graphic>
          <a:graphicData uri="http://schemas.openxmlformats.org/presentationml/2006/ole">
            <mc:AlternateContent>
              <mc:Choice Requires="v">
                <p:oleObj r:id="rId4" imgH="845573" imgW="1362690" progId="Excel.Sheet.12" spid="_x0000_s1">
                  <p:embed/>
                </p:oleObj>
              </mc:Choice>
              <mc:Fallback>
                <p:oleObj r:id="rId5" imgH="845573" imgW="1362690" progId="Excel.Sheet.12">
                  <p:embed/>
                  <p:pic>
                    <p:nvPicPr>
                      <p:cNvPr id="197" name="Google Shape;197;p13"/>
                      <p:cNvPicPr preferRelativeResize="0"/>
                      <p:nvPr/>
                    </p:nvPicPr>
                    <p:blipFill rotWithShape="1">
                      <a:blip r:embed="rId6">
                        <a:alphaModFix/>
                      </a:blip>
                      <a:srcRect b="0" l="0" r="0" t="0"/>
                      <a:stretch/>
                    </p:blipFill>
                    <p:spPr>
                      <a:xfrm>
                        <a:off x="631491" y="1491232"/>
                        <a:ext cx="1362690" cy="845573"/>
                      </a:xfrm>
                      <a:prstGeom prst="rect">
                        <a:avLst/>
                      </a:prstGeom>
                      <a:noFill/>
                      <a:ln>
                        <a:noFill/>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nvSpPr>
        <p:spPr>
          <a:xfrm>
            <a:off x="565728" y="635526"/>
            <a:ext cx="10825315" cy="451918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N" sz="1800">
                <a:solidFill>
                  <a:schemeClr val="dk1"/>
                </a:solidFill>
                <a:latin typeface="Lustria"/>
                <a:ea typeface="Lustria"/>
                <a:cs typeface="Lustria"/>
                <a:sym typeface="Lustria"/>
              </a:rPr>
              <a:t>This formula is an array formula in Excel that calculates the median of a set of values in column A, but only for rows where the value in column C matches a specific value from the Table1[@LANGUAGES] cell.</a:t>
            </a:r>
            <a:r>
              <a:rPr lang="en-IN" sz="1800">
                <a:solidFill>
                  <a:schemeClr val="dk1"/>
                </a:solidFill>
                <a:latin typeface="Courier New"/>
                <a:ea typeface="Courier New"/>
                <a:cs typeface="Courier New"/>
                <a:sym typeface="Courier New"/>
              </a:rPr>
              <a:t> </a:t>
            </a:r>
            <a:r>
              <a:rPr lang="en-IN" sz="1800">
                <a:solidFill>
                  <a:schemeClr val="dk1"/>
                </a:solidFill>
                <a:latin typeface="Lustria"/>
                <a:ea typeface="Lustria"/>
                <a:cs typeface="Lustria"/>
                <a:sym typeface="Lustria"/>
              </a:rPr>
              <a:t>IF function creates an array of values from column</a:t>
            </a:r>
            <a:r>
              <a:rPr b="1" lang="en-IN" sz="1800">
                <a:solidFill>
                  <a:schemeClr val="dk1"/>
                </a:solidFill>
                <a:latin typeface="Lustria"/>
                <a:ea typeface="Lustria"/>
                <a:cs typeface="Lustria"/>
                <a:sym typeface="Lustria"/>
              </a:rPr>
              <a:t> </a:t>
            </a:r>
            <a:r>
              <a:rPr lang="en-IN" sz="1800">
                <a:solidFill>
                  <a:schemeClr val="dk1"/>
                </a:solidFill>
                <a:latin typeface="Lustria"/>
                <a:ea typeface="Lustria"/>
                <a:cs typeface="Lustria"/>
                <a:sym typeface="Lustria"/>
              </a:rPr>
              <a:t>A, but only for the rows where column C equals the specified language in Table1[@LANGUAGES]. </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Standard deviation: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=STDEV(IF(C:C=Table1[@LANGUAGES],A:A))</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This formula is used to calculate the standard deviation of a subset of values in column A, based on a condition applied to column C. It uses an array formula to perform this calculation.</a:t>
            </a:r>
            <a:r>
              <a:rPr b="1"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IF function that filters values in column A based on a condition applied to column C.</a:t>
            </a:r>
            <a:endParaRPr sz="1800">
              <a:solidFill>
                <a:schemeClr val="dk1"/>
              </a:solidFill>
              <a:latin typeface="Arial"/>
              <a:ea typeface="Arial"/>
              <a:cs typeface="Arial"/>
              <a:sym typeface="Arial"/>
            </a:endParaRPr>
          </a:p>
          <a:p>
            <a:pPr indent="0" lvl="0" marL="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This’s how I’ve done the task with the knowledge I’ve acquired during learning sessions as well as with the help of hint given in the description</a:t>
            </a:r>
            <a:endParaRPr sz="1800">
              <a:solidFill>
                <a:schemeClr val="dk1"/>
              </a:solidFill>
              <a:latin typeface="Arial"/>
              <a:ea typeface="Arial"/>
              <a:cs typeface="Arial"/>
              <a:sym typeface="Arial"/>
            </a:endParaRPr>
          </a:p>
          <a:p>
            <a:pPr indent="0" lvl="0" marL="0" marR="0" rtl="0" algn="l">
              <a:spcBef>
                <a:spcPts val="800"/>
              </a:spcBef>
              <a:spcAft>
                <a:spcPts val="0"/>
              </a:spcAft>
              <a:buNone/>
            </a:pPr>
            <a:r>
              <a:rPr b="1" lang="en-IN" sz="1800">
                <a:solidFill>
                  <a:schemeClr val="dk1"/>
                </a:solidFill>
                <a:latin typeface="Lustria"/>
                <a:ea typeface="Lustria"/>
                <a:cs typeface="Lustria"/>
                <a:sym typeface="Lustria"/>
              </a:rPr>
              <a:t>Result: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03" name="Google Shape;203;p14"/>
          <p:cNvSpPr/>
          <p:nvPr/>
        </p:nvSpPr>
        <p:spPr>
          <a:xfrm>
            <a:off x="196119" y="-52733"/>
            <a:ext cx="11995881"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204" name="Google Shape;204;p14"/>
          <p:cNvGraphicFramePr/>
          <p:nvPr/>
        </p:nvGraphicFramePr>
        <p:xfrm>
          <a:off x="439775" y="4640826"/>
          <a:ext cx="1657022" cy="802574"/>
        </p:xfrm>
        <a:graphic>
          <a:graphicData uri="http://schemas.openxmlformats.org/presentationml/2006/ole">
            <mc:AlternateContent>
              <mc:Choice Requires="v">
                <p:oleObj r:id="rId4" imgH="802574" imgW="1657022" progId="Excel.Sheet.12" spid="_x0000_s1">
                  <p:embed/>
                </p:oleObj>
              </mc:Choice>
              <mc:Fallback>
                <p:oleObj r:id="rId5" imgH="802574" imgW="1657022" progId="Excel.Sheet.12">
                  <p:embed/>
                  <p:pic>
                    <p:nvPicPr>
                      <p:cNvPr id="204" name="Google Shape;204;p14"/>
                      <p:cNvPicPr preferRelativeResize="0"/>
                      <p:nvPr/>
                    </p:nvPicPr>
                    <p:blipFill rotWithShape="1">
                      <a:blip r:embed="rId6">
                        <a:alphaModFix/>
                      </a:blip>
                      <a:srcRect b="0" l="0" r="0" t="0"/>
                      <a:stretch/>
                    </p:blipFill>
                    <p:spPr>
                      <a:xfrm>
                        <a:off x="439775" y="4640826"/>
                        <a:ext cx="1657022" cy="802574"/>
                      </a:xfrm>
                      <a:prstGeom prst="rect">
                        <a:avLst/>
                      </a:prstGeom>
                      <a:noFill/>
                      <a:ln>
                        <a:noFill/>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nvSpPr>
        <p:spPr>
          <a:xfrm>
            <a:off x="619431" y="550606"/>
            <a:ext cx="10844981" cy="596830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lang="en-IN" sz="1800">
                <a:solidFill>
                  <a:schemeClr val="dk1"/>
                </a:solidFill>
                <a:latin typeface="Lustria"/>
                <a:ea typeface="Lustria"/>
                <a:cs typeface="Lustria"/>
                <a:sym typeface="Lustria"/>
              </a:rPr>
              <a:t>D. Director Analysis: </a:t>
            </a:r>
            <a:r>
              <a:rPr lang="en-IN" sz="1800">
                <a:solidFill>
                  <a:schemeClr val="dk1"/>
                </a:solidFill>
                <a:latin typeface="Lustria"/>
                <a:ea typeface="Lustria"/>
                <a:cs typeface="Lustria"/>
                <a:sym typeface="Lustria"/>
              </a:rPr>
              <a:t>Influence of directors on movie ratings.</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Task: </a:t>
            </a:r>
            <a:r>
              <a:rPr lang="en-IN" sz="1800">
                <a:solidFill>
                  <a:schemeClr val="dk1"/>
                </a:solidFill>
                <a:latin typeface="Lustria"/>
                <a:ea typeface="Lustria"/>
                <a:cs typeface="Lustria"/>
                <a:sym typeface="Lustria"/>
              </a:rPr>
              <a:t>Identify the top directors based on their average IMDB score and analyze their contribution to the success of movies using percentile calculations.</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Insights:</a:t>
            </a:r>
            <a:r>
              <a:rPr lang="en-IN" sz="1800">
                <a:solidFill>
                  <a:schemeClr val="dk1"/>
                </a:solidFill>
                <a:latin typeface="Lustria"/>
                <a:ea typeface="Lustria"/>
                <a:cs typeface="Lustria"/>
                <a:sym typeface="Lustria"/>
              </a:rPr>
              <a:t> From the cleaned data, I’ve taken out director’s column &amp;imdb_score and Calculated the average IMDB score for each director. With the help of  Excel's PERCENTILE function to identify the directors with the highest scores ,to calculate average I used average function</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Average: =AVERAGEIF(B:B,B2,A:A)</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Percentile: PERCENTRANK.EXC(C2:C4721,C2)</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To know the top directors with highest scores I’ve used</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=INDEX(SORTBY(B2:C4721,D2:D4721,-1,B2:B4721,1),SEQUENCE(10),{1,2})</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It’s a powerful and complex formula in Excel that retrieves specific rows and columns of sorted data, this formula is used to return a sorted subset of data, specifically the first 10 rows, sorted by column </a:t>
            </a:r>
            <a:r>
              <a:rPr b="1" lang="en-IN" sz="1800">
                <a:solidFill>
                  <a:schemeClr val="dk1"/>
                </a:solidFill>
                <a:latin typeface="Lustria"/>
                <a:ea typeface="Lustria"/>
                <a:cs typeface="Lustria"/>
                <a:sym typeface="Lustria"/>
              </a:rPr>
              <a:t>D</a:t>
            </a:r>
            <a:r>
              <a:rPr lang="en-IN" sz="1800">
                <a:solidFill>
                  <a:schemeClr val="dk1"/>
                </a:solidFill>
                <a:latin typeface="Lustria"/>
                <a:ea typeface="Lustria"/>
                <a:cs typeface="Lustria"/>
                <a:sym typeface="Lustria"/>
              </a:rPr>
              <a:t> in descending order, and then by column </a:t>
            </a:r>
            <a:r>
              <a:rPr b="1" lang="en-IN" sz="1800">
                <a:solidFill>
                  <a:schemeClr val="dk1"/>
                </a:solidFill>
                <a:latin typeface="Lustria"/>
                <a:ea typeface="Lustria"/>
                <a:cs typeface="Lustria"/>
                <a:sym typeface="Lustria"/>
              </a:rPr>
              <a:t>B</a:t>
            </a:r>
            <a:r>
              <a:rPr lang="en-IN" sz="1800">
                <a:solidFill>
                  <a:schemeClr val="dk1"/>
                </a:solidFill>
                <a:latin typeface="Lustria"/>
                <a:ea typeface="Lustria"/>
                <a:cs typeface="Lustria"/>
                <a:sym typeface="Lustria"/>
              </a:rPr>
              <a:t> in ascending order.</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Eventually it would return the first 10 rows from this sorted data,</a:t>
            </a:r>
            <a:r>
              <a:rPr b="1" lang="en-IN" sz="1800">
                <a:solidFill>
                  <a:schemeClr val="dk1"/>
                </a:solidFill>
                <a:latin typeface="Lustria"/>
                <a:ea typeface="Lustria"/>
                <a:cs typeface="Lustria"/>
                <a:sym typeface="Lustria"/>
              </a:rPr>
              <a:t> </a:t>
            </a:r>
            <a:r>
              <a:rPr lang="en-IN" sz="1800">
                <a:solidFill>
                  <a:schemeClr val="dk1"/>
                </a:solidFill>
                <a:latin typeface="Lustria"/>
                <a:ea typeface="Lustria"/>
                <a:cs typeface="Lustria"/>
                <a:sym typeface="Lustria"/>
              </a:rPr>
              <a:t>then again from the data we’ve gotten with the formula usage the top directors, I’ve used a chart to visualize the data so that it could be understood properly </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6"/>
          <p:cNvSpPr txBox="1"/>
          <p:nvPr/>
        </p:nvSpPr>
        <p:spPr>
          <a:xfrm>
            <a:off x="432619" y="639095"/>
            <a:ext cx="11175964" cy="59765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Lustria"/>
                <a:ea typeface="Lustria"/>
                <a:cs typeface="Lustria"/>
                <a:sym typeface="Lustria"/>
              </a:rPr>
              <a:t>Result :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N" sz="180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IN" sz="180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IN" sz="1800">
                <a:solidFill>
                  <a:schemeClr val="dk1"/>
                </a:solidFill>
                <a:latin typeface="Avenir"/>
                <a:ea typeface="Avenir"/>
                <a:cs typeface="Avenir"/>
                <a:sym typeface="Avenir"/>
              </a:rPr>
              <a:t> </a:t>
            </a:r>
            <a:endParaRPr/>
          </a:p>
          <a:p>
            <a:pPr indent="0" lvl="0" marL="228600" marR="0" rtl="0" algn="l">
              <a:lnSpc>
                <a:spcPct val="115000"/>
              </a:lnSpc>
              <a:spcBef>
                <a:spcPts val="0"/>
              </a:spcBef>
              <a:spcAft>
                <a:spcPts val="0"/>
              </a:spcAft>
              <a:buNone/>
            </a:pPr>
            <a:r>
              <a:rPr b="1" lang="en-IN" sz="1800">
                <a:solidFill>
                  <a:schemeClr val="dk1"/>
                </a:solidFill>
                <a:latin typeface="Lustria"/>
                <a:ea typeface="Lustria"/>
                <a:cs typeface="Lustria"/>
                <a:sym typeface="Lustria"/>
              </a:rPr>
              <a:t>E. Budget Analysis: </a:t>
            </a:r>
            <a:r>
              <a:rPr lang="en-IN" sz="1800">
                <a:solidFill>
                  <a:schemeClr val="dk1"/>
                </a:solidFill>
                <a:latin typeface="Lustria"/>
                <a:ea typeface="Lustria"/>
                <a:cs typeface="Lustria"/>
                <a:sym typeface="Lustria"/>
              </a:rPr>
              <a:t>Explore the relationship between movie budgets and their financial success.</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Task: </a:t>
            </a:r>
            <a:r>
              <a:rPr lang="en-IN" sz="1800">
                <a:solidFill>
                  <a:schemeClr val="dk1"/>
                </a:solidFill>
                <a:latin typeface="Lustria"/>
                <a:ea typeface="Lustria"/>
                <a:cs typeface="Lustria"/>
                <a:sym typeface="Lustria"/>
              </a:rPr>
              <a:t>Analyze the correlation between movie budgets and gross earnings, and identify the movies with the highest profit margin.</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Insights:</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From the cleaned data, I’ve taken out imdb_score, movie title, gross, budget columns and calculated profit by subtracting gross by budget got the profit and then the calculated the correlation coefficient between movie budgets and gross earnings using Excel's correl function </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Correl function:</a:t>
            </a:r>
            <a:r>
              <a:rPr lang="en-IN" sz="1800">
                <a:solidFill>
                  <a:schemeClr val="dk1"/>
                </a:solidFill>
                <a:latin typeface="Arial"/>
                <a:ea typeface="Arial"/>
                <a:cs typeface="Arial"/>
                <a:sym typeface="Arial"/>
              </a:rPr>
              <a:t> </a:t>
            </a:r>
            <a:r>
              <a:rPr lang="en-IN" sz="1800">
                <a:solidFill>
                  <a:schemeClr val="dk1"/>
                </a:solidFill>
                <a:latin typeface="Lustria"/>
                <a:ea typeface="Lustria"/>
                <a:cs typeface="Lustria"/>
                <a:sym typeface="Lustria"/>
              </a:rPr>
              <a:t>=CORREL(E2:E3781,D2:D3781)</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It calculated the correlation coefficient between two sets of data columns E and D</a:t>
            </a:r>
            <a:r>
              <a:rPr b="1" lang="en-IN" sz="1800">
                <a:solidFill>
                  <a:schemeClr val="dk1"/>
                </a:solidFill>
                <a:latin typeface="Lustria"/>
                <a:ea typeface="Lustria"/>
                <a:cs typeface="Lustria"/>
                <a:sym typeface="Lustria"/>
              </a:rPr>
              <a:t> </a:t>
            </a:r>
            <a:r>
              <a:rPr lang="en-IN" sz="1800">
                <a:solidFill>
                  <a:schemeClr val="dk1"/>
                </a:solidFill>
                <a:latin typeface="Lustria"/>
                <a:ea typeface="Lustria"/>
                <a:cs typeface="Lustria"/>
                <a:sym typeface="Lustria"/>
              </a:rPr>
              <a:t>to understand the strength and direction of the linear relationship between them</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And to know the movies with the highest profit margin with using excel MAX function I’ve used</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
        <p:nvSpPr>
          <p:cNvPr id="215" name="Google Shape;215;p16"/>
          <p:cNvSpPr/>
          <p:nvPr/>
        </p:nvSpPr>
        <p:spPr>
          <a:xfrm>
            <a:off x="243188" y="245806"/>
            <a:ext cx="12718274"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216" name="Google Shape;216;p16"/>
          <p:cNvGraphicFramePr/>
          <p:nvPr/>
        </p:nvGraphicFramePr>
        <p:xfrm>
          <a:off x="583417" y="1064146"/>
          <a:ext cx="1010175" cy="996558"/>
        </p:xfrm>
        <a:graphic>
          <a:graphicData uri="http://schemas.openxmlformats.org/presentationml/2006/ole">
            <mc:AlternateContent>
              <mc:Choice Requires="v">
                <p:oleObj r:id="rId4" imgH="996558" imgW="1010175" progId="Excel.Sheet.12" spid="_x0000_s1">
                  <p:embed/>
                </p:oleObj>
              </mc:Choice>
              <mc:Fallback>
                <p:oleObj r:id="rId5" imgH="996558" imgW="1010175" progId="Excel.Sheet.12">
                  <p:embed/>
                  <p:pic>
                    <p:nvPicPr>
                      <p:cNvPr id="216" name="Google Shape;216;p16"/>
                      <p:cNvPicPr preferRelativeResize="0"/>
                      <p:nvPr/>
                    </p:nvPicPr>
                    <p:blipFill rotWithShape="1">
                      <a:blip r:embed="rId6">
                        <a:alphaModFix/>
                      </a:blip>
                      <a:srcRect b="0" l="0" r="0" t="0"/>
                      <a:stretch/>
                    </p:blipFill>
                    <p:spPr>
                      <a:xfrm>
                        <a:off x="583417" y="1064146"/>
                        <a:ext cx="1010175" cy="996558"/>
                      </a:xfrm>
                      <a:prstGeom prst="rect">
                        <a:avLst/>
                      </a:prstGeom>
                      <a:noFill/>
                      <a:ln>
                        <a:noFill/>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7"/>
          <p:cNvSpPr txBox="1"/>
          <p:nvPr/>
        </p:nvSpPr>
        <p:spPr>
          <a:xfrm>
            <a:off x="599775" y="431650"/>
            <a:ext cx="10972800" cy="6030600"/>
          </a:xfrm>
          <a:prstGeom prst="rect">
            <a:avLst/>
          </a:prstGeom>
          <a:noFill/>
          <a:ln>
            <a:noFill/>
          </a:ln>
        </p:spPr>
        <p:txBody>
          <a:bodyPr anchorCtr="0" anchor="t" bIns="45700" lIns="91425" spcFirstLastPara="1" rIns="91425" wrap="square" tIns="45700">
            <a:spAutoFit/>
          </a:bodyPr>
          <a:lstStyle/>
          <a:p>
            <a:pPr indent="0" lvl="0" marL="228600" marR="0" rtl="0" algn="l">
              <a:lnSpc>
                <a:spcPct val="115000"/>
              </a:lnSpc>
              <a:spcBef>
                <a:spcPts val="0"/>
              </a:spcBef>
              <a:spcAft>
                <a:spcPts val="0"/>
              </a:spcAft>
              <a:buNone/>
            </a:pPr>
            <a:r>
              <a:rPr lang="en-IN" sz="1800">
                <a:solidFill>
                  <a:schemeClr val="dk1"/>
                </a:solidFill>
                <a:latin typeface="Lustria"/>
                <a:ea typeface="Lustria"/>
                <a:cs typeface="Lustria"/>
                <a:sym typeface="Lustria"/>
              </a:rPr>
              <a:t>=IF(F2:F3781=MAX(F2:F3781),C2:C3781,"")</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It’s an array formula that checks each value in a range and returns a corresponding value from another range if a condition is met</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 It checks if the value in column F (for a specific row) is equal to the maximum value in column F.</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If the value in column F is equal to the maximum value, it returns the value from the same row in column C.</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 If the value in column F is not equal to the maximum, it returns an empty string.</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This formula finds the maximum value in column F and then returns the corresponding value from column C for rows where the value in F equals the maximum value. Otherwise, it leaves the cell empty. </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And also to know top 5 movie titles I’ve used</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=INDEX(SORTBY(C:C,F:F,-1),SEQUENCE(6))</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The formula is used to return the top 6 values from column C, sorted based on the values in column F in descending order.</a:t>
            </a:r>
            <a:endParaRPr sz="1800">
              <a:solidFill>
                <a:schemeClr val="dk1"/>
              </a:solidFill>
              <a:latin typeface="Arial"/>
              <a:ea typeface="Arial"/>
              <a:cs typeface="Arial"/>
              <a:sym typeface="Arial"/>
            </a:endParaRPr>
          </a:p>
          <a:p>
            <a:pPr indent="0" lvl="0" marL="0" marR="0" rtl="0" algn="l">
              <a:spcBef>
                <a:spcPts val="800"/>
              </a:spcBef>
              <a:spcAft>
                <a:spcPts val="0"/>
              </a:spcAft>
              <a:buNone/>
            </a:pPr>
            <a:r>
              <a:rPr lang="en-IN" sz="1800">
                <a:solidFill>
                  <a:schemeClr val="dk1"/>
                </a:solidFill>
                <a:latin typeface="Lustria"/>
                <a:ea typeface="Lustria"/>
                <a:cs typeface="Lustria"/>
                <a:sym typeface="Lustria"/>
              </a:rPr>
              <a:t>As it also included movie title, I’ve increased sequence with 6 number so that I get top 5 movie title with highest profit</a:t>
            </a:r>
            <a:endParaRPr sz="1800">
              <a:solidFill>
                <a:schemeClr val="dk1"/>
              </a:solidFill>
              <a:latin typeface="Avenir"/>
              <a:ea typeface="Avenir"/>
              <a:cs typeface="Avenir"/>
              <a:sym typeface="Aveni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nvSpPr>
        <p:spPr>
          <a:xfrm flipH="1">
            <a:off x="314630" y="496759"/>
            <a:ext cx="10648335" cy="2475037"/>
          </a:xfrm>
          <a:prstGeom prst="rect">
            <a:avLst/>
          </a:prstGeom>
          <a:noFill/>
          <a:ln>
            <a:noFill/>
          </a:ln>
        </p:spPr>
        <p:txBody>
          <a:bodyPr anchorCtr="0" anchor="t" bIns="45700" lIns="91425" spcFirstLastPara="1" rIns="91425" wrap="square" tIns="45700">
            <a:spAutoFit/>
          </a:bodyPr>
          <a:lstStyle/>
          <a:p>
            <a:pPr indent="0" lvl="0" marL="228600" marR="0" rtl="0" algn="l">
              <a:lnSpc>
                <a:spcPct val="115000"/>
              </a:lnSpc>
              <a:spcBef>
                <a:spcPts val="0"/>
              </a:spcBef>
              <a:spcAft>
                <a:spcPts val="0"/>
              </a:spcAft>
              <a:buNone/>
            </a:pPr>
            <a:r>
              <a:rPr lang="en-IN" sz="1800">
                <a:solidFill>
                  <a:schemeClr val="dk1"/>
                </a:solidFill>
                <a:latin typeface="Lustria"/>
                <a:ea typeface="Lustria"/>
                <a:cs typeface="Lustria"/>
                <a:sym typeface="Lustria"/>
              </a:rPr>
              <a:t>It Sorts the values in column C based on the corresponding values in column F (in descending order).</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Returns the top 6 values from column C based on that sorted order.</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lang="en-IN" sz="1800">
                <a:solidFill>
                  <a:schemeClr val="dk1"/>
                </a:solidFill>
                <a:latin typeface="Lustria"/>
                <a:ea typeface="Lustria"/>
                <a:cs typeface="Lustria"/>
                <a:sym typeface="Lustria"/>
              </a:rPr>
              <a:t>It gives a top 5 list based on their ranking</a:t>
            </a:r>
            <a:endParaRPr sz="1800">
              <a:solidFill>
                <a:schemeClr val="dk1"/>
              </a:solidFill>
              <a:latin typeface="Arial"/>
              <a:ea typeface="Arial"/>
              <a:cs typeface="Arial"/>
              <a:sym typeface="Arial"/>
            </a:endParaRPr>
          </a:p>
          <a:p>
            <a:pPr indent="0" lvl="0" marL="228600" marR="0" rtl="0" algn="l">
              <a:lnSpc>
                <a:spcPct val="115000"/>
              </a:lnSpc>
              <a:spcBef>
                <a:spcPts val="800"/>
              </a:spcBef>
              <a:spcAft>
                <a:spcPts val="0"/>
              </a:spcAft>
              <a:buNone/>
            </a:pPr>
            <a:r>
              <a:rPr b="1" lang="en-IN" sz="1800">
                <a:solidFill>
                  <a:schemeClr val="dk1"/>
                </a:solidFill>
                <a:latin typeface="Lustria"/>
                <a:ea typeface="Lustria"/>
                <a:cs typeface="Lustria"/>
                <a:sym typeface="Lustria"/>
              </a:rPr>
              <a:t>Result:</a:t>
            </a:r>
            <a:endParaRPr/>
          </a:p>
          <a:p>
            <a:pPr indent="0" lvl="0" marL="228600" marR="0" rtl="0" algn="l">
              <a:lnSpc>
                <a:spcPct val="115000"/>
              </a:lnSpc>
              <a:spcBef>
                <a:spcPts val="800"/>
              </a:spcBef>
              <a:spcAft>
                <a:spcPts val="0"/>
              </a:spcAft>
              <a:buNone/>
            </a:pPr>
            <a:r>
              <a:t/>
            </a:r>
            <a:endParaRPr sz="1800">
              <a:solidFill>
                <a:schemeClr val="dk1"/>
              </a:solidFill>
              <a:latin typeface="Arial"/>
              <a:ea typeface="Arial"/>
              <a:cs typeface="Arial"/>
              <a:sym typeface="Arial"/>
            </a:endParaRPr>
          </a:p>
          <a:p>
            <a:pPr indent="0" lvl="0" marL="0" marR="0" rtl="0" algn="l">
              <a:spcBef>
                <a:spcPts val="800"/>
              </a:spcBef>
              <a:spcAft>
                <a:spcPts val="0"/>
              </a:spcAft>
              <a:buNone/>
            </a:pPr>
            <a:r>
              <a:t/>
            </a:r>
            <a:endParaRPr sz="1800">
              <a:solidFill>
                <a:schemeClr val="dk1"/>
              </a:solidFill>
              <a:latin typeface="Avenir"/>
              <a:ea typeface="Avenir"/>
              <a:cs typeface="Avenir"/>
              <a:sym typeface="Avenir"/>
            </a:endParaRPr>
          </a:p>
        </p:txBody>
      </p:sp>
      <p:sp>
        <p:nvSpPr>
          <p:cNvPr id="227" name="Google Shape;227;p18"/>
          <p:cNvSpPr/>
          <p:nvPr/>
        </p:nvSpPr>
        <p:spPr>
          <a:xfrm flipH="1">
            <a:off x="527159" y="-1094175"/>
            <a:ext cx="6882650" cy="4571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aphicFrame>
        <p:nvGraphicFramePr>
          <p:cNvPr id="228" name="Google Shape;228;p18"/>
          <p:cNvGraphicFramePr/>
          <p:nvPr/>
        </p:nvGraphicFramePr>
        <p:xfrm>
          <a:off x="527159" y="2497329"/>
          <a:ext cx="1127402" cy="1317523"/>
        </p:xfrm>
        <a:graphic>
          <a:graphicData uri="http://schemas.openxmlformats.org/presentationml/2006/ole">
            <mc:AlternateContent>
              <mc:Choice Requires="v">
                <p:oleObj r:id="rId4" imgH="1317523" imgW="1127402" progId="Excel.Sheet.12" spid="_x0000_s1">
                  <p:embed/>
                </p:oleObj>
              </mc:Choice>
              <mc:Fallback>
                <p:oleObj r:id="rId5" imgH="1317523" imgW="1127402" progId="Excel.Sheet.12">
                  <p:embed/>
                  <p:pic>
                    <p:nvPicPr>
                      <p:cNvPr id="228" name="Google Shape;228;p18"/>
                      <p:cNvPicPr preferRelativeResize="0"/>
                      <p:nvPr/>
                    </p:nvPicPr>
                    <p:blipFill rotWithShape="1">
                      <a:blip r:embed="rId6">
                        <a:alphaModFix/>
                      </a:blip>
                      <a:srcRect b="0" l="0" r="0" t="0"/>
                      <a:stretch/>
                    </p:blipFill>
                    <p:spPr>
                      <a:xfrm>
                        <a:off x="527159" y="2497329"/>
                        <a:ext cx="1127402" cy="1317523"/>
                      </a:xfrm>
                      <a:prstGeom prst="rect">
                        <a:avLst/>
                      </a:prstGeom>
                      <a:noFill/>
                      <a:ln>
                        <a:noFill/>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19"/>
          <p:cNvPicPr preferRelativeResize="0"/>
          <p:nvPr/>
        </p:nvPicPr>
        <p:blipFill rotWithShape="1">
          <a:blip r:embed="rId3">
            <a:alphaModFix/>
          </a:blip>
          <a:srcRect b="0" l="0" r="0" t="0"/>
          <a:stretch/>
        </p:blipFill>
        <p:spPr>
          <a:xfrm>
            <a:off x="363794" y="403123"/>
            <a:ext cx="11395587" cy="60665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avonVTI">
  <a:themeElements>
    <a:clrScheme name="Custom 46">
      <a:dk1>
        <a:srgbClr val="000000"/>
      </a:dk1>
      <a:lt1>
        <a:srgbClr val="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avonVTI">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2024-12-03T01:46:32Z</dcterms:created>
  <dc:creator>satyanarayana muthyam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